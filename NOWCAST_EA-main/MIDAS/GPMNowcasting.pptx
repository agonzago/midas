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28" r:id="rId1"/>
    <p:sldMasterId id="2147483730" r:id="rId2"/>
    <p:sldMasterId id="2147483672" r:id="rId3"/>
  </p:sldMasterIdLst>
  <p:notesMasterIdLst>
    <p:notesMasterId r:id="rId12"/>
  </p:notesMasterIdLst>
  <p:sldIdLst>
    <p:sldId id="283" r:id="rId4"/>
    <p:sldId id="414" r:id="rId5"/>
    <p:sldId id="511" r:id="rId6"/>
    <p:sldId id="512" r:id="rId7"/>
    <p:sldId id="513" r:id="rId8"/>
    <p:sldId id="514" r:id="rId9"/>
    <p:sldId id="516" r:id="rId10"/>
    <p:sldId id="515" r:id="rId11"/>
  </p:sldIdLst>
  <p:sldSz cx="12192000" cy="6858000"/>
  <p:notesSz cx="7023100" cy="93091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6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32" userDrawn="1">
          <p15:clr>
            <a:srgbClr val="A4A3A4"/>
          </p15:clr>
        </p15:guide>
        <p15:guide id="2" pos="2212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579" autoAdjust="0"/>
    <p:restoredTop sz="86435" autoAdjust="0"/>
  </p:normalViewPr>
  <p:slideViewPr>
    <p:cSldViewPr snapToGrid="0" showGuides="1">
      <p:cViewPr varScale="1">
        <p:scale>
          <a:sx n="54" d="100"/>
          <a:sy n="54" d="100"/>
        </p:scale>
        <p:origin x="328" y="56"/>
      </p:cViewPr>
      <p:guideLst>
        <p:guide orient="horz" pos="2136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118" d="100"/>
          <a:sy n="118" d="100"/>
        </p:scale>
        <p:origin x="2418" y="84"/>
      </p:cViewPr>
      <p:guideLst>
        <p:guide orient="horz" pos="2932"/>
        <p:guide pos="2212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theme" Target="theme/theme1.xml"/><Relationship Id="rId10" Type="http://schemas.openxmlformats.org/officeDocument/2006/relationships/slide" Target="slides/slide7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043238" cy="466725"/>
          </a:xfrm>
          <a:prstGeom prst="rect">
            <a:avLst/>
          </a:prstGeom>
        </p:spPr>
        <p:txBody>
          <a:bodyPr vert="horz" lIns="93323" tIns="46661" rIns="93323" bIns="46661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8275" y="1"/>
            <a:ext cx="3043238" cy="466725"/>
          </a:xfrm>
          <a:prstGeom prst="rect">
            <a:avLst/>
          </a:prstGeom>
        </p:spPr>
        <p:txBody>
          <a:bodyPr vert="horz" lIns="93323" tIns="46661" rIns="93323" bIns="46661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</a:defRPr>
            </a:lvl1pPr>
          </a:lstStyle>
          <a:p>
            <a:pPr>
              <a:defRPr/>
            </a:pPr>
            <a:fld id="{DA9E8781-5B70-47A5-8621-F71BA592DF97}" type="datetimeFigureOut">
              <a:rPr lang="en-US"/>
              <a:pPr>
                <a:defRPr/>
              </a:pPr>
              <a:t>9/25/2022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9138" y="1163638"/>
            <a:ext cx="5584825" cy="31416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323" tIns="46661" rIns="93323" bIns="46661" rtlCol="0" anchor="ctr"/>
          <a:lstStyle/>
          <a:p>
            <a:pPr lvl="0"/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676" y="4479925"/>
            <a:ext cx="5619750" cy="3665538"/>
          </a:xfrm>
          <a:prstGeom prst="rect">
            <a:avLst/>
          </a:prstGeom>
        </p:spPr>
        <p:txBody>
          <a:bodyPr vert="horz" lIns="93323" tIns="46661" rIns="93323" bIns="46661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42376"/>
            <a:ext cx="3043238" cy="466725"/>
          </a:xfrm>
          <a:prstGeom prst="rect">
            <a:avLst/>
          </a:prstGeom>
        </p:spPr>
        <p:txBody>
          <a:bodyPr vert="horz" lIns="93323" tIns="46661" rIns="93323" bIns="46661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8275" y="8842376"/>
            <a:ext cx="3043238" cy="466725"/>
          </a:xfrm>
          <a:prstGeom prst="rect">
            <a:avLst/>
          </a:prstGeom>
        </p:spPr>
        <p:txBody>
          <a:bodyPr vert="horz" lIns="93323" tIns="46661" rIns="93323" bIns="46661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</a:defRPr>
            </a:lvl1pPr>
          </a:lstStyle>
          <a:p>
            <a:pPr>
              <a:defRPr/>
            </a:pPr>
            <a:fld id="{C524907B-ED80-4624-BA65-2BE838218FC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719138" y="1163638"/>
            <a:ext cx="5584825" cy="3141662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765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en-US" dirty="0"/>
          </a:p>
        </p:txBody>
      </p:sp>
      <p:sp>
        <p:nvSpPr>
          <p:cNvPr id="16388" name="Slide Number Placeholder 3"/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58249" indent="-291634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66536" indent="-233308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33150" indent="-233308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99765" indent="-233308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66380" indent="-23330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3032994" indent="-23330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99609" indent="-23330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966223" indent="-23330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defTabSz="933229" fontAlgn="base">
              <a:spcBef>
                <a:spcPct val="0"/>
              </a:spcBef>
              <a:spcAft>
                <a:spcPct val="0"/>
              </a:spcAft>
              <a:defRPr/>
            </a:pPr>
            <a:fld id="{B6F00B52-C61E-4D76-A5E1-F1B75D920F09}" type="slidenum">
              <a:rPr lang="en-US" altLang="en-US" sz="1800" kern="0"/>
              <a:pPr defTabSz="933229" fontAlgn="base">
                <a:spcBef>
                  <a:spcPct val="0"/>
                </a:spcBef>
                <a:spcAft>
                  <a:spcPct val="0"/>
                </a:spcAft>
                <a:defRPr/>
              </a:pPr>
              <a:t>1</a:t>
            </a:fld>
            <a:endParaRPr lang="en-US" altLang="en-US" sz="1800" kern="0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719138" y="1163638"/>
            <a:ext cx="5584825" cy="3141662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843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marL="0" indent="0" eaLnBrk="1" fontAlgn="auto" hangingPunct="1">
              <a:lnSpc>
                <a:spcPct val="200000"/>
              </a:lnSpc>
              <a:spcAft>
                <a:spcPts val="0"/>
              </a:spcAft>
              <a:buFont typeface="+mj-lt"/>
              <a:buNone/>
              <a:defRPr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</a:t>
            </a:r>
          </a:p>
          <a:p>
            <a:pPr marL="0" indent="0" eaLnBrk="1" fontAlgn="auto" hangingPunct="1">
              <a:spcAft>
                <a:spcPts val="0"/>
              </a:spcAft>
              <a:buFont typeface="+mj-lt"/>
              <a:buNone/>
              <a:defRPr/>
            </a:pPr>
            <a:endParaRPr lang="en-US" sz="1200" dirty="0"/>
          </a:p>
          <a:p>
            <a:pPr eaLnBrk="1" hangingPunct="1">
              <a:spcBef>
                <a:spcPct val="0"/>
              </a:spcBef>
            </a:pPr>
            <a:endParaRPr lang="en-US" altLang="en-US" dirty="0"/>
          </a:p>
        </p:txBody>
      </p:sp>
      <p:sp>
        <p:nvSpPr>
          <p:cNvPr id="1843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58249" indent="-291634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66536" indent="-233308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33150" indent="-233308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99765" indent="-233308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66380" indent="-23330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3032994" indent="-23330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99609" indent="-23330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966223" indent="-23330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790B60BF-20EF-403C-8A86-AA9493F2E532}" type="slidenum">
              <a:rPr lang="en-US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2025307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719138" y="1163638"/>
            <a:ext cx="5584825" cy="3141662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457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marL="0" indent="0" eaLnBrk="1" fontAlgn="auto" hangingPunct="1">
              <a:spcAft>
                <a:spcPts val="0"/>
              </a:spcAft>
              <a:buNone/>
              <a:defRPr/>
            </a:pPr>
            <a:endParaRPr lang="en-US" sz="1200" dirty="0"/>
          </a:p>
        </p:txBody>
      </p:sp>
      <p:sp>
        <p:nvSpPr>
          <p:cNvPr id="2458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58249" indent="-291634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66536" indent="-233308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33150" indent="-233308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99765" indent="-233308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66380" indent="-23330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3032994" indent="-23330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99609" indent="-23330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966223" indent="-23330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defTabSz="933229" fontAlgn="base">
              <a:spcBef>
                <a:spcPct val="0"/>
              </a:spcBef>
              <a:spcAft>
                <a:spcPct val="0"/>
              </a:spcAft>
            </a:pPr>
            <a:fld id="{033D4D47-2AFF-40E6-A062-FBFB4F65F447}" type="slidenum">
              <a:rPr lang="en-US" altLang="en-US" sz="1800" kern="0"/>
              <a:pPr defTabSz="933229" fontAlgn="base">
                <a:spcBef>
                  <a:spcPct val="0"/>
                </a:spcBef>
                <a:spcAft>
                  <a:spcPct val="0"/>
                </a:spcAft>
              </a:pPr>
              <a:t>3</a:t>
            </a:fld>
            <a:endParaRPr lang="en-US" altLang="en-US" sz="1800" kern="0" dirty="0"/>
          </a:p>
        </p:txBody>
      </p:sp>
    </p:spTree>
    <p:extLst>
      <p:ext uri="{BB962C8B-B14F-4D97-AF65-F5344CB8AC3E}">
        <p14:creationId xmlns:p14="http://schemas.microsoft.com/office/powerpoint/2010/main" val="11358473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719138" y="1163638"/>
            <a:ext cx="5584825" cy="3141662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457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marL="0" indent="0" eaLnBrk="1" fontAlgn="auto" hangingPunct="1">
              <a:spcAft>
                <a:spcPts val="0"/>
              </a:spcAft>
              <a:buNone/>
              <a:defRPr/>
            </a:pPr>
            <a:endParaRPr lang="en-US" sz="1200" dirty="0"/>
          </a:p>
        </p:txBody>
      </p:sp>
      <p:sp>
        <p:nvSpPr>
          <p:cNvPr id="2458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58249" indent="-291634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66536" indent="-233308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33150" indent="-233308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99765" indent="-233308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66380" indent="-23330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3032994" indent="-23330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99609" indent="-23330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966223" indent="-23330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defTabSz="933229" fontAlgn="base">
              <a:spcBef>
                <a:spcPct val="0"/>
              </a:spcBef>
              <a:spcAft>
                <a:spcPct val="0"/>
              </a:spcAft>
            </a:pPr>
            <a:fld id="{033D4D47-2AFF-40E6-A062-FBFB4F65F447}" type="slidenum">
              <a:rPr lang="en-US" altLang="en-US" sz="1800" kern="0"/>
              <a:pPr defTabSz="933229" fontAlgn="base">
                <a:spcBef>
                  <a:spcPct val="0"/>
                </a:spcBef>
                <a:spcAft>
                  <a:spcPct val="0"/>
                </a:spcAft>
              </a:pPr>
              <a:t>4</a:t>
            </a:fld>
            <a:endParaRPr lang="en-US" altLang="en-US" sz="1800" kern="0" dirty="0"/>
          </a:p>
        </p:txBody>
      </p:sp>
    </p:spTree>
    <p:extLst>
      <p:ext uri="{BB962C8B-B14F-4D97-AF65-F5344CB8AC3E}">
        <p14:creationId xmlns:p14="http://schemas.microsoft.com/office/powerpoint/2010/main" val="35609224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719138" y="1163638"/>
            <a:ext cx="5584825" cy="3141662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457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marL="0" indent="0" eaLnBrk="1" fontAlgn="auto" hangingPunct="1">
              <a:spcAft>
                <a:spcPts val="0"/>
              </a:spcAft>
              <a:buNone/>
              <a:defRPr/>
            </a:pPr>
            <a:endParaRPr lang="en-US" sz="1200" dirty="0"/>
          </a:p>
        </p:txBody>
      </p:sp>
      <p:sp>
        <p:nvSpPr>
          <p:cNvPr id="2458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58249" indent="-291634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66536" indent="-233308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33150" indent="-233308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99765" indent="-233308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66380" indent="-23330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3032994" indent="-23330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99609" indent="-23330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966223" indent="-23330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defTabSz="933229" fontAlgn="base">
              <a:spcBef>
                <a:spcPct val="0"/>
              </a:spcBef>
              <a:spcAft>
                <a:spcPct val="0"/>
              </a:spcAft>
            </a:pPr>
            <a:fld id="{033D4D47-2AFF-40E6-A062-FBFB4F65F447}" type="slidenum">
              <a:rPr lang="en-US" altLang="en-US" sz="1800" kern="0"/>
              <a:pPr defTabSz="933229" fontAlgn="base">
                <a:spcBef>
                  <a:spcPct val="0"/>
                </a:spcBef>
                <a:spcAft>
                  <a:spcPct val="0"/>
                </a:spcAft>
              </a:pPr>
              <a:t>5</a:t>
            </a:fld>
            <a:endParaRPr lang="en-US" altLang="en-US" sz="1800" kern="0" dirty="0"/>
          </a:p>
        </p:txBody>
      </p:sp>
    </p:spTree>
    <p:extLst>
      <p:ext uri="{BB962C8B-B14F-4D97-AF65-F5344CB8AC3E}">
        <p14:creationId xmlns:p14="http://schemas.microsoft.com/office/powerpoint/2010/main" val="40231464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719138" y="1163638"/>
            <a:ext cx="5584825" cy="3141662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457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marL="0" indent="0" eaLnBrk="1" fontAlgn="auto" hangingPunct="1">
              <a:spcAft>
                <a:spcPts val="0"/>
              </a:spcAft>
              <a:buNone/>
              <a:defRPr/>
            </a:pPr>
            <a:endParaRPr lang="en-US" sz="1200" dirty="0"/>
          </a:p>
        </p:txBody>
      </p:sp>
      <p:sp>
        <p:nvSpPr>
          <p:cNvPr id="2458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58249" indent="-291634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66536" indent="-233308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33150" indent="-233308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99765" indent="-233308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66380" indent="-23330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3032994" indent="-23330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99609" indent="-23330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966223" indent="-23330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defTabSz="933229" fontAlgn="base">
              <a:spcBef>
                <a:spcPct val="0"/>
              </a:spcBef>
              <a:spcAft>
                <a:spcPct val="0"/>
              </a:spcAft>
            </a:pPr>
            <a:fld id="{033D4D47-2AFF-40E6-A062-FBFB4F65F447}" type="slidenum">
              <a:rPr lang="en-US" altLang="en-US" sz="1800" kern="0"/>
              <a:pPr defTabSz="933229" fontAlgn="base">
                <a:spcBef>
                  <a:spcPct val="0"/>
                </a:spcBef>
                <a:spcAft>
                  <a:spcPct val="0"/>
                </a:spcAft>
              </a:pPr>
              <a:t>6</a:t>
            </a:fld>
            <a:endParaRPr lang="en-US" altLang="en-US" sz="1800" kern="0" dirty="0"/>
          </a:p>
        </p:txBody>
      </p:sp>
    </p:spTree>
    <p:extLst>
      <p:ext uri="{BB962C8B-B14F-4D97-AF65-F5344CB8AC3E}">
        <p14:creationId xmlns:p14="http://schemas.microsoft.com/office/powerpoint/2010/main" val="2585925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719138" y="1163638"/>
            <a:ext cx="5584825" cy="3141662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457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marL="0" indent="0" eaLnBrk="1" fontAlgn="auto" hangingPunct="1">
              <a:spcAft>
                <a:spcPts val="0"/>
              </a:spcAft>
              <a:buNone/>
              <a:defRPr/>
            </a:pPr>
            <a:endParaRPr lang="en-US" sz="1200" dirty="0"/>
          </a:p>
        </p:txBody>
      </p:sp>
      <p:sp>
        <p:nvSpPr>
          <p:cNvPr id="2458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58249" indent="-291634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66536" indent="-233308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33150" indent="-233308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99765" indent="-233308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66380" indent="-23330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3032994" indent="-23330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99609" indent="-23330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966223" indent="-23330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defTabSz="933229" fontAlgn="base">
              <a:spcBef>
                <a:spcPct val="0"/>
              </a:spcBef>
              <a:spcAft>
                <a:spcPct val="0"/>
              </a:spcAft>
            </a:pPr>
            <a:fld id="{033D4D47-2AFF-40E6-A062-FBFB4F65F447}" type="slidenum">
              <a:rPr lang="en-US" altLang="en-US" sz="1800" kern="0"/>
              <a:pPr defTabSz="933229" fontAlgn="base">
                <a:spcBef>
                  <a:spcPct val="0"/>
                </a:spcBef>
                <a:spcAft>
                  <a:spcPct val="0"/>
                </a:spcAft>
              </a:pPr>
              <a:t>7</a:t>
            </a:fld>
            <a:endParaRPr lang="en-US" altLang="en-US" sz="1800" kern="0" dirty="0"/>
          </a:p>
        </p:txBody>
      </p:sp>
    </p:spTree>
    <p:extLst>
      <p:ext uri="{BB962C8B-B14F-4D97-AF65-F5344CB8AC3E}">
        <p14:creationId xmlns:p14="http://schemas.microsoft.com/office/powerpoint/2010/main" val="3567721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719138" y="1163638"/>
            <a:ext cx="5584825" cy="3141662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457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marL="0" indent="0" eaLnBrk="1" fontAlgn="auto" hangingPunct="1">
              <a:spcAft>
                <a:spcPts val="0"/>
              </a:spcAft>
              <a:buNone/>
              <a:defRPr/>
            </a:pPr>
            <a:endParaRPr lang="en-US" sz="1200" dirty="0"/>
          </a:p>
        </p:txBody>
      </p:sp>
      <p:sp>
        <p:nvSpPr>
          <p:cNvPr id="2458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58249" indent="-291634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66536" indent="-233308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33150" indent="-233308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99765" indent="-233308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66380" indent="-23330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3032994" indent="-23330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99609" indent="-23330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966223" indent="-23330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defTabSz="933229" fontAlgn="base">
              <a:spcBef>
                <a:spcPct val="0"/>
              </a:spcBef>
              <a:spcAft>
                <a:spcPct val="0"/>
              </a:spcAft>
            </a:pPr>
            <a:fld id="{033D4D47-2AFF-40E6-A062-FBFB4F65F447}" type="slidenum">
              <a:rPr lang="en-US" altLang="en-US" sz="1800" kern="0"/>
              <a:pPr defTabSz="933229" fontAlgn="base">
                <a:spcBef>
                  <a:spcPct val="0"/>
                </a:spcBef>
                <a:spcAft>
                  <a:spcPct val="0"/>
                </a:spcAft>
              </a:pPr>
              <a:t>8</a:t>
            </a:fld>
            <a:endParaRPr lang="en-US" altLang="en-US" sz="1800" kern="0" dirty="0"/>
          </a:p>
        </p:txBody>
      </p:sp>
    </p:spTree>
    <p:extLst>
      <p:ext uri="{BB962C8B-B14F-4D97-AF65-F5344CB8AC3E}">
        <p14:creationId xmlns:p14="http://schemas.microsoft.com/office/powerpoint/2010/main" val="37666655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4F5508B6-775F-40B1-922B-159E40A632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172568-1384-4E22-9E6B-D05E8DB6F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1/25/2017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DE646A-087A-49C6-A2B6-355DD953AD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CC17A64-DF8A-4AAB-B282-AD06551CAE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4692019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172568-1384-4E22-9E6B-D05E8DB6F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1/25/2017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DE646A-087A-49C6-A2B6-355DD953AD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CC17A64-DF8A-4AAB-B282-AD06551CAE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0845737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B06347-4FA0-494C-8F53-56875C12D086}" type="datetime1">
              <a:rPr lang="en-US"/>
              <a:pPr>
                <a:defRPr/>
              </a:pPr>
              <a:t>9/25/2022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06400" y="6324601"/>
            <a:ext cx="7112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87D027E-5A3E-462F-B936-051F874F706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56296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7866F3-A4C6-42B3-9D0A-A49AF632FA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2C73C9-A2C3-4283-BE49-8F867D94B5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7ED161-5A44-4E55-8244-C76A5FC94F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E9CBB-8CF2-470C-8620-7322B2ED3709}" type="datetimeFigureOut">
              <a:rPr lang="en-US" smtClean="0"/>
              <a:t>9/25/2022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63A03A-5095-49EE-9E47-39E53AD434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94A863-0561-4E12-8689-29467854D5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5DA5D1-F631-4D9B-AD2E-40EE8AAE416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91320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CDEBF9-A7B2-435C-B709-81F45EEF37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EEDC63-421C-4C05-AA84-C2775E1045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146104-EBEF-4289-972D-C41F986AF9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E9CBB-8CF2-470C-8620-7322B2ED3709}" type="datetimeFigureOut">
              <a:rPr lang="en-US" smtClean="0"/>
              <a:t>9/25/2022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BC08E3-3300-4D65-810A-441D3D8CDB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F5909A-3990-4A06-865A-0D4FE33CF7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5DA5D1-F631-4D9B-AD2E-40EE8AAE416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92870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87A4D3-A889-4ACC-9E66-01CCACBA7F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9905AB-C505-4815-9CDC-366B6AA009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6EBAC3-7E93-491C-8237-DF3D647ADD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E9CBB-8CF2-470C-8620-7322B2ED3709}" type="datetimeFigureOut">
              <a:rPr lang="en-US" smtClean="0"/>
              <a:t>9/25/2022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B8D44C-BCE0-4D46-9E92-94429B90CF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F607A3-69B5-476A-8CF9-64F788937E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5DA5D1-F631-4D9B-AD2E-40EE8AAE416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85085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091EAE-E765-400B-B041-1352513E8A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B57284-907B-4520-88FE-A828CDC913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B2D74B-B421-4F89-A478-7E3F4867A4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344F69-6E07-4D28-89EC-1059CCB311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E9CBB-8CF2-470C-8620-7322B2ED3709}" type="datetimeFigureOut">
              <a:rPr lang="en-US" smtClean="0"/>
              <a:t>9/25/2022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BF8CCB-23E7-454F-A5F8-5F18B5F80C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0C73FB-3BBE-48DC-8968-369FD5F4D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5DA5D1-F631-4D9B-AD2E-40EE8AAE416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8622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7E7268-71AD-4F45-9441-3662CC45EE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FC646D-C9F0-4F4E-9B24-50C8DDA5F3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A72462-5B19-4389-9E94-1ADD9F9AEA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DF1A501-3F8E-442D-AF31-F6B3C57BDC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CFDAC20-2A83-4941-9022-D4186CFC301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DE89C57-C5BE-42FA-943F-6276816BCE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E9CBB-8CF2-470C-8620-7322B2ED3709}" type="datetimeFigureOut">
              <a:rPr lang="en-US" smtClean="0"/>
              <a:t>9/25/2022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DB0F29A-AB0E-4A8D-AFB6-9C44DA1FDE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75309E6-8724-431E-A1A7-A3729D561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5DA5D1-F631-4D9B-AD2E-40EE8AAE416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94879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F01575-7180-41A3-B44E-D1E7B9108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3280F8-08E3-49B8-84C2-520503D282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E9CBB-8CF2-470C-8620-7322B2ED3709}" type="datetimeFigureOut">
              <a:rPr lang="en-US" smtClean="0"/>
              <a:t>9/25/2022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0C8A0C9-A43E-432B-A3AE-CD87137973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65FDC1-D1F7-4613-ADD5-FD50B3010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5DA5D1-F631-4D9B-AD2E-40EE8AAE416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52351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D16EDC3-9643-4CE2-BB28-001D2AF624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E9CBB-8CF2-470C-8620-7322B2ED3709}" type="datetimeFigureOut">
              <a:rPr lang="en-US" smtClean="0"/>
              <a:t>9/25/2022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9861B60-D6A2-46D1-881B-15D164A4F2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1C7E53-EB97-4556-ACE6-9D73A74C1A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5DA5D1-F631-4D9B-AD2E-40EE8AAE416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81936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7834F8-8D10-4A89-8525-5D2021CEEA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AB097F-A81F-49D9-BF7A-DC4C7CF382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916A29-97B7-415F-B32D-6999D386D8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A20E59-AEA3-4927-9C91-09593D64CC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E9CBB-8CF2-470C-8620-7322B2ED3709}" type="datetimeFigureOut">
              <a:rPr lang="en-US" smtClean="0"/>
              <a:t>9/25/2022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879DFC-F411-4594-86BB-0EE1E7460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E4E7AB-D032-4E7B-9C82-325D7EF4C9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5DA5D1-F631-4D9B-AD2E-40EE8AAE416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48387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D9216B-1C0F-4245-9D69-B1237B611E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C92BB66-C872-4743-B679-7DF762B8F1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FD0140-30D6-4A56-A9E0-5883A41E46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F1171B-7117-43D5-980F-1AB2355AB1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E9CBB-8CF2-470C-8620-7322B2ED3709}" type="datetimeFigureOut">
              <a:rPr lang="en-US" smtClean="0"/>
              <a:t>9/25/2022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81F511-FB48-4A04-87E7-D44730A9BF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62DBCD-11FC-4D6F-B6EF-3DD0CC71C2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5DA5D1-F631-4D9B-AD2E-40EE8AAE416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196548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4C9624-DE17-4A9B-BE26-DCFCC06C1C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9C6AFC-36C1-401C-A934-15D11D631D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00C946-CF48-47CC-8053-76D3EBA66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E9CBB-8CF2-470C-8620-7322B2ED3709}" type="datetimeFigureOut">
              <a:rPr lang="en-US" smtClean="0"/>
              <a:t>9/25/2022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695019-72AD-4C46-B78B-86B8E43567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13B600-66A5-459F-8132-3CB2F8B0D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5DA5D1-F631-4D9B-AD2E-40EE8AAE416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868769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4DC0356-17D7-41A9-8E00-75E4C78609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2797C8-50EB-46E6-88C7-1DC9BD64C3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484EA7-E686-45D1-8579-B072E5851D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E9CBB-8CF2-470C-8620-7322B2ED3709}" type="datetimeFigureOut">
              <a:rPr lang="en-US" smtClean="0"/>
              <a:t>9/25/2022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9BF3FB-982C-4BD9-AA8F-3278BB8BBF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FA2C80-7511-4F29-89C2-84AD080335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5DA5D1-F631-4D9B-AD2E-40EE8AAE416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99817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55AA06A-4719-482A-A127-F0DC564F1A9C}" type="datetime1">
              <a:rPr lang="en-US"/>
              <a:pPr>
                <a:defRPr/>
              </a:pPr>
              <a:t>9/25/2022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06400" y="6324601"/>
            <a:ext cx="609600" cy="365125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FB939804-020C-448B-8ECB-E2676C67E297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167116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7513A0E-7BA1-42DB-9B5A-5EA1C306F0E6}" type="datetime1">
              <a:rPr lang="en-US"/>
              <a:pPr>
                <a:defRPr/>
              </a:pPr>
              <a:t>9/25/2022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06400" y="6324601"/>
            <a:ext cx="711200" cy="365125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B19567C9-534C-4DD2-ADCB-AF8F2F54E64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513811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B59938-15D3-4B1D-9AC6-31647E01785A}" type="datetime1">
              <a:rPr lang="en-US"/>
              <a:pPr>
                <a:defRPr/>
              </a:pPr>
              <a:t>9/25/2022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06400" y="6324601"/>
            <a:ext cx="609600" cy="365125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4085B9FC-2AAF-4167-BBF4-C61AEA11BFA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519605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A4068F7-31EE-4489-ACC5-7EACB715D1BF}" type="datetime1">
              <a:rPr lang="en-US"/>
              <a:pPr>
                <a:defRPr/>
              </a:pPr>
              <a:t>9/25/2022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06400" y="6324601"/>
            <a:ext cx="609600" cy="365125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57B27074-8E69-4725-A047-63583B478EF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402297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852002E-A1EE-4C43-A61E-F37940EF93A1}" type="datetime1">
              <a:rPr lang="en-US"/>
              <a:pPr>
                <a:defRPr/>
              </a:pPr>
              <a:t>9/25/2022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406400" y="6324601"/>
            <a:ext cx="711200" cy="365125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D668C9BC-02A0-432B-BE32-C9A5C82B419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259176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8" descr="Logo1067393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64800" y="5829300"/>
            <a:ext cx="1422400" cy="1028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4125090-5B90-41AD-B5BD-660C61C54BC4}" type="datetime1">
              <a:rPr lang="en-US"/>
              <a:pPr>
                <a:defRPr/>
              </a:pPr>
              <a:t>9/25/2022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32644144-45F5-48FB-8896-928C9278340F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068413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3995802-A467-4B52-927A-451845AE1CCA}" type="datetime1">
              <a:rPr lang="en-US"/>
              <a:pPr>
                <a:defRPr/>
              </a:pPr>
              <a:t>9/25/2022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86DFB409-A440-4DC6-8AA8-6F854FC3DB7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386488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7D50A5-F5D9-4FCF-BA4A-A6A7CE5E21F6}" type="datetime1">
              <a:rPr lang="en-US"/>
              <a:pPr>
                <a:defRPr/>
              </a:pPr>
              <a:t>9/25/2022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8AE5FBC9-0CEA-4BB8-9E86-5748DC5FDBED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537793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EDF9CB5-ADA6-4F77-AAFD-607864146EAF}" type="datetime1">
              <a:rPr lang="en-US"/>
              <a:pPr>
                <a:defRPr/>
              </a:pPr>
              <a:t>9/25/2022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9BF1940D-82E4-454A-A329-87A4E117CC3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993174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8" descr="Logo1067393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134938" y="5773738"/>
            <a:ext cx="949325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6E4228-7363-4021-82F0-A9ECFAFBBA44}" type="datetime1">
              <a:rPr lang="en-US"/>
              <a:pPr>
                <a:defRPr/>
              </a:pPr>
              <a:t>9/25/2022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C1182188-D1BE-40DA-B013-AE74B7A35F3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396507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8" descr="Logo1067393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101600" y="6045200"/>
            <a:ext cx="7112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74C369D-68B6-4CD1-BE91-37A5473EBB57}" type="datetime1">
              <a:rPr lang="en-US"/>
              <a:pPr>
                <a:defRPr/>
              </a:pPr>
              <a:t>9/25/2022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7771BC22-F3E9-4696-B9FE-E54489D2882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85723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wmf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3" Type="http://schemas.openxmlformats.org/officeDocument/2006/relationships/slideLayout" Target="../slideLayouts/slideLayout6.xml"/><Relationship Id="rId7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4.xml"/><Relationship Id="rId5" Type="http://schemas.openxmlformats.org/officeDocument/2006/relationships/slideLayout" Target="../slideLayouts/slideLayout8.xml"/><Relationship Id="rId10" Type="http://schemas.openxmlformats.org/officeDocument/2006/relationships/slideLayout" Target="../slideLayouts/slideLayout13.xml"/><Relationship Id="rId4" Type="http://schemas.openxmlformats.org/officeDocument/2006/relationships/slideLayout" Target="../slideLayouts/slideLayout7.xml"/><Relationship Id="rId9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00" y="6340476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1/25/2017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06400" y="632460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</a:t>
            </a:r>
          </a:p>
        </p:txBody>
      </p:sp>
      <p:sp>
        <p:nvSpPr>
          <p:cNvPr id="1031" name="Rectangle 2"/>
          <p:cNvSpPr>
            <a:spLocks noChangeArrowheads="1"/>
          </p:cNvSpPr>
          <p:nvPr userDrawn="1"/>
        </p:nvSpPr>
        <p:spPr bwMode="auto">
          <a:xfrm>
            <a:off x="4500852" y="74712"/>
            <a:ext cx="3190297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GPM-Based Quarterly Global Update </a:t>
            </a: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032" name="Text Box 3"/>
          <p:cNvSpPr txBox="1">
            <a:spLocks noChangeArrowheads="1"/>
          </p:cNvSpPr>
          <p:nvPr userDrawn="1"/>
        </p:nvSpPr>
        <p:spPr bwMode="auto">
          <a:xfrm>
            <a:off x="0" y="1"/>
            <a:ext cx="12192000" cy="561975"/>
          </a:xfrm>
          <a:prstGeom prst="rect">
            <a:avLst/>
          </a:prstGeom>
          <a:solidFill>
            <a:srgbClr val="4F81BD"/>
          </a:solidFill>
          <a:ln w="38100">
            <a:solidFill>
              <a:srgbClr val="F2F2F2"/>
            </a:solidFill>
            <a:miter lim="800000"/>
            <a:headEnd/>
            <a:tailEnd/>
          </a:ln>
          <a:effectLst>
            <a:outerShdw dist="28398" dir="3806097" algn="ctr" rotWithShape="0">
              <a:srgbClr val="243F60">
                <a:alpha val="50000"/>
              </a:srgbClr>
            </a:outerShdw>
          </a:effec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EMD, Research Department</a:t>
            </a:r>
            <a:r>
              <a:rPr kumimoji="0" lang="en-US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Arial" panose="020B0604020202020204" pitchFamily="34" charset="0"/>
              </a:rPr>
              <a:t>		                  </a:t>
            </a:r>
            <a:r>
              <a:rPr kumimoji="0" lang="en-US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4F81BD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GPM-Team RES Global 	</a:t>
            </a:r>
            <a:r>
              <a:rPr kumimoji="0" lang="en-US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		“</a:t>
            </a:r>
            <a:r>
              <a:rPr kumimoji="0" lang="en-US" altLang="en-US" sz="1100" b="0" i="1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Striving for Consistency”</a:t>
            </a:r>
            <a:endParaRPr kumimoji="0" lang="en-US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US GPM Forecast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1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1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1033" name="Picture 10" descr="Logo1067393.eps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72800" y="6019800"/>
            <a:ext cx="948267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979422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9" r:id="rId1"/>
    <p:sldLayoutId id="2147483745" r:id="rId2"/>
    <p:sldLayoutId id="2147483746" r:id="rId3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C01686F-A2F4-4017-9CD3-90B35B4342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8884F2-4504-4841-B205-20C331B71A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068C1A-DAC2-43A6-BDD1-5811D6D23A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4E9CBB-8CF2-470C-8620-7322B2ED3709}" type="datetimeFigureOut">
              <a:rPr lang="en-US" smtClean="0"/>
              <a:t>9/25/2022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138A2A-3C6A-4423-9B80-7C65AD3EC6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9AA486-7EE0-47E8-BFDC-AC2C2AADF3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5DA5D1-F631-4D9B-AD2E-40EE8AAE416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77253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1" r:id="rId1"/>
    <p:sldLayoutId id="2147483732" r:id="rId2"/>
    <p:sldLayoutId id="2147483733" r:id="rId3"/>
    <p:sldLayoutId id="2147483734" r:id="rId4"/>
    <p:sldLayoutId id="2147483735" r:id="rId5"/>
    <p:sldLayoutId id="2147483736" r:id="rId6"/>
    <p:sldLayoutId id="2147483737" r:id="rId7"/>
    <p:sldLayoutId id="2147483738" r:id="rId8"/>
    <p:sldLayoutId id="2147483739" r:id="rId9"/>
    <p:sldLayoutId id="2147483740" r:id="rId10"/>
    <p:sldLayoutId id="214748374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205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00" y="6340476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900" smtClean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AA7ED9D0-B823-4C52-9A01-E7B38C49E25A}" type="datetime1">
              <a:rPr lang="en-US"/>
              <a:pPr>
                <a:defRPr/>
              </a:pPr>
              <a:t>9/25/2022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900" dirty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06400" y="632460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900" dirty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US" dirty="0"/>
              <a:t>1</a:t>
            </a:r>
          </a:p>
        </p:txBody>
      </p:sp>
      <p:sp>
        <p:nvSpPr>
          <p:cNvPr id="13314" name="Rectangle 2"/>
          <p:cNvSpPr>
            <a:spLocks noChangeArrowheads="1"/>
          </p:cNvSpPr>
          <p:nvPr userDrawn="1"/>
        </p:nvSpPr>
        <p:spPr bwMode="auto">
          <a:xfrm>
            <a:off x="4895031" y="113185"/>
            <a:ext cx="2401940" cy="2308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68580" tIns="34290" rIns="68580" bIns="34290" anchor="ctr">
            <a:spAutoFit/>
          </a:bodyPr>
          <a:lstStyle/>
          <a:p>
            <a:pPr algn="ctr" defTabSz="685800" eaLnBrk="1" hangingPunct="1">
              <a:defRPr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Calibri" pitchFamily="34" charset="0"/>
                <a:cs typeface="Arial" pitchFamily="34" charset="0"/>
              </a:rPr>
              <a:t>GPM-Based Quarterly Global Update </a:t>
            </a:r>
            <a:endParaRPr lang="en-US" sz="135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3315" name="Text Box 3"/>
          <p:cNvSpPr txBox="1">
            <a:spLocks noChangeArrowheads="1"/>
          </p:cNvSpPr>
          <p:nvPr userDrawn="1"/>
        </p:nvSpPr>
        <p:spPr bwMode="auto">
          <a:xfrm>
            <a:off x="0" y="1"/>
            <a:ext cx="12192000" cy="561975"/>
          </a:xfrm>
          <a:prstGeom prst="rect">
            <a:avLst/>
          </a:prstGeom>
          <a:solidFill>
            <a:schemeClr val="accent2">
              <a:lumMod val="50000"/>
            </a:schemeClr>
          </a:solidFill>
          <a:ln w="38100">
            <a:solidFill>
              <a:srgbClr val="F2F2F2"/>
            </a:solidFill>
            <a:miter lim="800000"/>
            <a:headEnd/>
            <a:tailEnd/>
          </a:ln>
          <a:effectLst>
            <a:outerShdw dist="28398" dir="3806097" algn="ctr" rotWithShape="0">
              <a:srgbClr val="243F60">
                <a:alpha val="50000"/>
              </a:srgbClr>
            </a:outerShdw>
          </a:effectLst>
        </p:spPr>
        <p:txBody>
          <a:bodyPr lIns="68580" tIns="34290" rIns="68580" bIns="34290"/>
          <a:lstStyle/>
          <a:p>
            <a:pPr defTabSz="685800" eaLnBrk="1" hangingPunct="1">
              <a:spcAft>
                <a:spcPts val="750"/>
              </a:spcAft>
              <a:defRPr/>
            </a:pPr>
            <a:r>
              <a:rPr lang="en-US" sz="825" dirty="0">
                <a:latin typeface="Times New Roman" pitchFamily="18" charset="0"/>
                <a:cs typeface="Arial" pitchFamily="34" charset="0"/>
              </a:rPr>
              <a:t>	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7" r:id="rId1"/>
    <p:sldLayoutId id="2147483718" r:id="rId2"/>
    <p:sldLayoutId id="2147483719" r:id="rId3"/>
    <p:sldLayoutId id="2147483720" r:id="rId4"/>
    <p:sldLayoutId id="2147483721" r:id="rId5"/>
    <p:sldLayoutId id="2147483722" r:id="rId6"/>
    <p:sldLayoutId id="2147483723" r:id="rId7"/>
    <p:sldLayoutId id="2147483724" r:id="rId8"/>
    <p:sldLayoutId id="2147483725" r:id="rId9"/>
    <p:sldLayoutId id="2147483726" r:id="rId10"/>
    <p:sldLayoutId id="2147483727" r:id="rId11"/>
  </p:sldLayoutIdLst>
  <p:hf hdr="0" ftr="0" dt="0"/>
  <p:txStyles>
    <p:titleStyle>
      <a:lvl1pPr algn="ctr" defTabSz="685800" rtl="0" fontAlgn="base"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Palatino Linotype" pitchFamily="18" charset="0"/>
          <a:ea typeface="+mj-ea"/>
          <a:cs typeface="+mj-cs"/>
        </a:defRPr>
      </a:lvl1pPr>
      <a:lvl2pPr algn="ctr" defTabSz="685800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Palatino Linotype" panose="02040502050505030304" pitchFamily="18" charset="0"/>
        </a:defRPr>
      </a:lvl2pPr>
      <a:lvl3pPr algn="ctr" defTabSz="685800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Palatino Linotype" panose="02040502050505030304" pitchFamily="18" charset="0"/>
        </a:defRPr>
      </a:lvl3pPr>
      <a:lvl4pPr algn="ctr" defTabSz="685800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Palatino Linotype" panose="02040502050505030304" pitchFamily="18" charset="0"/>
        </a:defRPr>
      </a:lvl4pPr>
      <a:lvl5pPr algn="ctr" defTabSz="685800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Palatino Linotype" panose="02040502050505030304" pitchFamily="18" charset="0"/>
        </a:defRPr>
      </a:lvl5pPr>
      <a:lvl6pPr marL="457200" algn="ctr" defTabSz="685800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Palatino Linotype" panose="02040502050505030304" pitchFamily="18" charset="0"/>
        </a:defRPr>
      </a:lvl6pPr>
      <a:lvl7pPr marL="914400" algn="ctr" defTabSz="685800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Palatino Linotype" panose="02040502050505030304" pitchFamily="18" charset="0"/>
        </a:defRPr>
      </a:lvl7pPr>
      <a:lvl8pPr marL="1371600" algn="ctr" defTabSz="685800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Palatino Linotype" panose="02040502050505030304" pitchFamily="18" charset="0"/>
        </a:defRPr>
      </a:lvl8pPr>
      <a:lvl9pPr marL="1828800" algn="ctr" defTabSz="685800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Palatino Linotype" panose="02040502050505030304" pitchFamily="18" charset="0"/>
        </a:defRPr>
      </a:lvl9pPr>
    </p:titleStyle>
    <p:bodyStyle>
      <a:lvl1pPr marL="257175" indent="-257175" algn="l" defTabSz="685800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Palatino Linotype" pitchFamily="18" charset="0"/>
          <a:ea typeface="+mn-ea"/>
          <a:cs typeface="+mn-cs"/>
        </a:defRPr>
      </a:lvl1pPr>
      <a:lvl2pPr marL="557213" indent="-214313" algn="l" defTabSz="685800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100" kern="1200">
          <a:solidFill>
            <a:schemeClr val="tx1"/>
          </a:solidFill>
          <a:latin typeface="Palatino Linotype" pitchFamily="18" charset="0"/>
          <a:ea typeface="+mn-ea"/>
          <a:cs typeface="+mn-cs"/>
        </a:defRPr>
      </a:lvl2pPr>
      <a:lvl3pPr marL="857250" indent="-171450" algn="l" defTabSz="685800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Palatino Linotype" pitchFamily="18" charset="0"/>
          <a:ea typeface="+mn-ea"/>
          <a:cs typeface="+mn-cs"/>
        </a:defRPr>
      </a:lvl3pPr>
      <a:lvl4pPr marL="1200150" indent="-171450" algn="l" defTabSz="685800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1500" kern="1200">
          <a:solidFill>
            <a:schemeClr val="tx1"/>
          </a:solidFill>
          <a:latin typeface="Palatino Linotype" pitchFamily="18" charset="0"/>
          <a:ea typeface="+mn-ea"/>
          <a:cs typeface="+mn-cs"/>
        </a:defRPr>
      </a:lvl4pPr>
      <a:lvl5pPr marL="1543050" indent="-171450" algn="l" defTabSz="685800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500" kern="1200">
          <a:solidFill>
            <a:schemeClr val="tx1"/>
          </a:solidFill>
          <a:latin typeface="Palatino Linotype" pitchFamily="18" charset="0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2469356" y="1792287"/>
            <a:ext cx="7253287" cy="1636713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4400" b="1" dirty="0">
                <a:solidFill>
                  <a:schemeClr val="accent1"/>
                </a:solidFill>
              </a:rPr>
              <a:t>GPM Nowcasting Brainstorm</a:t>
            </a:r>
            <a:endParaRPr lang="en-US" sz="1950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1601789" y="857250"/>
            <a:ext cx="8893175" cy="100965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342900" indent="-3429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lvl="4" algn="r" eaLnBrk="1" hangingPunct="1"/>
            <a:endParaRPr lang="en-US" altLang="en-US" sz="1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926672" y="685800"/>
            <a:ext cx="8439324" cy="6030560"/>
          </a:xfrm>
        </p:spPr>
        <p:txBody>
          <a:bodyPr rtlCol="0">
            <a:normAutofit/>
          </a:bodyPr>
          <a:lstStyle/>
          <a:p>
            <a:pPr marL="0" indent="0" eaLnBrk="1" fontAlgn="auto" hangingPunct="1">
              <a:lnSpc>
                <a:spcPct val="200000"/>
              </a:lnSpc>
              <a:spcAft>
                <a:spcPts val="0"/>
              </a:spcAft>
              <a:buNone/>
              <a:defRPr/>
            </a:pPr>
            <a:endParaRPr lang="en-US" altLang="en-US" sz="2000" dirty="0"/>
          </a:p>
          <a:p>
            <a:pPr marL="0" indent="0" eaLnBrk="1" fontAlgn="auto" hangingPunct="1">
              <a:lnSpc>
                <a:spcPct val="200000"/>
              </a:lnSpc>
              <a:spcAft>
                <a:spcPts val="0"/>
              </a:spcAft>
              <a:buNone/>
              <a:defRPr/>
            </a:pPr>
            <a:endParaRPr lang="en-US" altLang="en-US" sz="2000" dirty="0"/>
          </a:p>
          <a:p>
            <a:pPr marL="0" indent="0" eaLnBrk="1" fontAlgn="auto" hangingPunct="1">
              <a:lnSpc>
                <a:spcPct val="200000"/>
              </a:lnSpc>
              <a:spcAft>
                <a:spcPts val="0"/>
              </a:spcAft>
              <a:buNone/>
              <a:defRPr/>
            </a:pPr>
            <a:endParaRPr lang="en-US" altLang="en-US" sz="2000" dirty="0"/>
          </a:p>
          <a:p>
            <a:pPr marL="0" indent="0" eaLnBrk="1" fontAlgn="auto" hangingPunct="1">
              <a:spcAft>
                <a:spcPts val="0"/>
              </a:spcAft>
              <a:buNone/>
              <a:defRPr/>
            </a:pPr>
            <a:endParaRPr lang="en-US" sz="1800" dirty="0"/>
          </a:p>
          <a:p>
            <a:pPr marL="342900" indent="-342900" eaLnBrk="1" fontAlgn="auto" hangingPunct="1">
              <a:spcAft>
                <a:spcPts val="0"/>
              </a:spcAft>
              <a:buFont typeface="+mj-lt"/>
              <a:buAutoNum type="arabicPeriod"/>
              <a:defRPr/>
            </a:pPr>
            <a:endParaRPr lang="en-US" sz="1800" dirty="0"/>
          </a:p>
          <a:p>
            <a:pPr marL="0" indent="0" eaLnBrk="1" fontAlgn="auto" hangingPunct="1">
              <a:spcAft>
                <a:spcPts val="0"/>
              </a:spcAft>
              <a:buNone/>
              <a:defRPr/>
            </a:pPr>
            <a:endParaRPr lang="en-US" sz="1800" dirty="0"/>
          </a:p>
          <a:p>
            <a:pPr marL="0" indent="0" eaLnBrk="1" fontAlgn="auto" hangingPunct="1">
              <a:spcAft>
                <a:spcPts val="0"/>
              </a:spcAft>
              <a:buNone/>
              <a:defRPr/>
            </a:pPr>
            <a:endParaRPr lang="en-US" sz="1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9951868" y="6351236"/>
            <a:ext cx="533400" cy="365125"/>
          </a:xfrm>
        </p:spPr>
        <p:txBody>
          <a:bodyPr/>
          <a:lstStyle/>
          <a:p>
            <a:pPr>
              <a:defRPr/>
            </a:pPr>
            <a:fld id="{A7C5B094-2571-43BC-A4E9-6F95E036BDC0}" type="slidenum">
              <a:rPr lang="en-US" sz="1400">
                <a:solidFill>
                  <a:schemeClr val="tx1"/>
                </a:solidFill>
              </a:rPr>
              <a:pPr>
                <a:defRPr/>
              </a:pPr>
              <a:t>2</a:t>
            </a:fld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 bwMode="auto">
          <a:xfrm>
            <a:off x="83128" y="525462"/>
            <a:ext cx="91440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300" kern="1200">
                <a:solidFill>
                  <a:schemeClr val="tx1"/>
                </a:solidFill>
                <a:latin typeface="Palatino Linotype" pitchFamily="18" charset="0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Palatino Linotype" panose="02040502050505030304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Palatino Linotype" panose="02040502050505030304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Palatino Linotype" panose="02040502050505030304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Palatino Linotype" panose="02040502050505030304" pitchFamily="18" charset="0"/>
              </a:defRPr>
            </a:lvl5pPr>
            <a:lvl6pPr marL="342900" algn="ctr" rtl="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Palatino Linotype" panose="02040502050505030304" pitchFamily="18" charset="0"/>
              </a:defRPr>
            </a:lvl6pPr>
            <a:lvl7pPr marL="685800" algn="ctr" rtl="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Palatino Linotype" panose="02040502050505030304" pitchFamily="18" charset="0"/>
              </a:defRPr>
            </a:lvl7pPr>
            <a:lvl8pPr marL="1028700" algn="ctr" rtl="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Palatino Linotype" panose="02040502050505030304" pitchFamily="18" charset="0"/>
              </a:defRPr>
            </a:lvl8pPr>
            <a:lvl9pPr marL="1371600" algn="ctr" rtl="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Palatino Linotype" panose="02040502050505030304" pitchFamily="18" charset="0"/>
              </a:defRPr>
            </a:lvl9pPr>
          </a:lstStyle>
          <a:p>
            <a:pPr algn="l" eaLnBrk="1" hangingPunct="1"/>
            <a:r>
              <a:rPr lang="en-US" altLang="en-US" sz="2400" b="1" dirty="0"/>
              <a:t> </a:t>
            </a:r>
            <a:r>
              <a:rPr lang="en-US" altLang="en-US" sz="2800" b="1" u="sng" dirty="0">
                <a:latin typeface="Arial" panose="020B0604020202020204" pitchFamily="34" charset="0"/>
                <a:cs typeface="Arial" panose="020B0604020202020204" pitchFamily="34" charset="0"/>
              </a:rPr>
              <a:t>Plan</a:t>
            </a:r>
          </a:p>
        </p:txBody>
      </p:sp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A63802F6-16FE-44BD-A3C8-4B07B4E3DFE6}"/>
              </a:ext>
            </a:extLst>
          </p:cNvPr>
          <p:cNvSpPr txBox="1">
            <a:spLocks/>
          </p:cNvSpPr>
          <p:nvPr/>
        </p:nvSpPr>
        <p:spPr bwMode="auto">
          <a:xfrm>
            <a:off x="290763" y="1050923"/>
            <a:ext cx="11610474" cy="5665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>
            <a:lvl1pPr marL="257175" indent="-257175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1pPr>
            <a:lvl2pPr marL="557213" indent="-214313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1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2pPr>
            <a:lvl3pPr marL="85725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3pPr>
            <a:lvl4pPr marL="120015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15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4pPr>
            <a:lvl5pPr marL="154305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5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eaLnBrk="1" fontAlgn="auto" hangingPunct="1">
              <a:lnSpc>
                <a:spcPct val="200000"/>
              </a:lnSpc>
              <a:spcAft>
                <a:spcPts val="0"/>
              </a:spcAft>
              <a:buFont typeface="+mj-lt"/>
              <a:buAutoNum type="arabicPeriod"/>
              <a:defRPr/>
            </a:pPr>
            <a:r>
              <a:rPr lang="en-US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What do we use now?</a:t>
            </a:r>
          </a:p>
          <a:p>
            <a:pPr marL="642938" lvl="1" indent="-342900" eaLnBrk="1" fontAlgn="auto" hangingPunct="1">
              <a:lnSpc>
                <a:spcPct val="200000"/>
              </a:lnSpc>
              <a:spcAft>
                <a:spcPts val="0"/>
              </a:spcAft>
              <a:defRPr/>
            </a:pPr>
            <a:r>
              <a:rPr lang="en-US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Overview of what is on the stocks and quick demos</a:t>
            </a:r>
            <a:endParaRPr lang="en-U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eaLnBrk="1" fontAlgn="auto" hangingPunct="1">
              <a:lnSpc>
                <a:spcPct val="200000"/>
              </a:lnSpc>
              <a:spcAft>
                <a:spcPts val="0"/>
              </a:spcAft>
              <a:buFont typeface="+mj-lt"/>
              <a:buAutoNum type="arabicPeriod"/>
              <a:defRPr/>
            </a:pPr>
            <a:r>
              <a:rPr lang="en-US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What should we be using?</a:t>
            </a:r>
          </a:p>
          <a:p>
            <a:pPr marL="642938" lvl="1" indent="-342900" eaLnBrk="1" fontAlgn="auto" hangingPunct="1">
              <a:lnSpc>
                <a:spcPct val="200000"/>
              </a:lnSpc>
              <a:spcAft>
                <a:spcPts val="0"/>
              </a:spcAft>
              <a:defRPr/>
            </a:pPr>
            <a:r>
              <a:rPr lang="en-US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Do we need to invest in new techniques?</a:t>
            </a:r>
          </a:p>
          <a:p>
            <a:pPr marL="342900" indent="-342900" eaLnBrk="1" fontAlgn="auto" hangingPunct="1">
              <a:lnSpc>
                <a:spcPct val="200000"/>
              </a:lnSpc>
              <a:spcAft>
                <a:spcPts val="0"/>
              </a:spcAft>
              <a:buFont typeface="+mj-lt"/>
              <a:buAutoNum type="arabicPeriod"/>
              <a:defRPr/>
            </a:pPr>
            <a:r>
              <a:rPr lang="en-US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How do we incorporate nowcasting in our outputs</a:t>
            </a:r>
          </a:p>
          <a:p>
            <a:pPr lvl="1" eaLnBrk="1" fontAlgn="auto" hangingPunct="1">
              <a:lnSpc>
                <a:spcPct val="200000"/>
              </a:lnSpc>
              <a:spcAft>
                <a:spcPts val="0"/>
              </a:spcAft>
              <a:defRPr/>
            </a:pPr>
            <a:r>
              <a:rPr lang="en-US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A role for pure statistical tracking in monitoring outputs/forecast presentation?</a:t>
            </a:r>
          </a:p>
          <a:p>
            <a:pPr marL="342900" indent="-342900" eaLnBrk="1" fontAlgn="auto" hangingPunct="1">
              <a:lnSpc>
                <a:spcPct val="200000"/>
              </a:lnSpc>
              <a:spcAft>
                <a:spcPts val="0"/>
              </a:spcAft>
              <a:buFont typeface="+mj-lt"/>
              <a:buAutoNum type="arabicPeriod"/>
              <a:defRPr/>
            </a:pPr>
            <a:endParaRPr lang="en-US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eaLnBrk="1" fontAlgn="auto" hangingPunct="1">
              <a:lnSpc>
                <a:spcPct val="200000"/>
              </a:lnSpc>
              <a:spcAft>
                <a:spcPts val="0"/>
              </a:spcAft>
              <a:buFont typeface="+mj-lt"/>
              <a:buAutoNum type="arabicPeriod"/>
              <a:defRPr/>
            </a:pPr>
            <a:endParaRPr lang="en-US" altLang="en-US" sz="2000" dirty="0"/>
          </a:p>
          <a:p>
            <a:pPr marL="0" indent="0" eaLnBrk="1" fontAlgn="auto" hangingPunct="1">
              <a:lnSpc>
                <a:spcPct val="200000"/>
              </a:lnSpc>
              <a:spcAft>
                <a:spcPts val="0"/>
              </a:spcAft>
              <a:buNone/>
              <a:defRPr/>
            </a:pPr>
            <a:endParaRPr lang="en-US" altLang="en-US" sz="2000" dirty="0"/>
          </a:p>
          <a:p>
            <a:pPr marL="0" indent="0" eaLnBrk="1" fontAlgn="auto" hangingPunct="1">
              <a:lnSpc>
                <a:spcPct val="200000"/>
              </a:lnSpc>
              <a:spcAft>
                <a:spcPts val="0"/>
              </a:spcAft>
              <a:buNone/>
              <a:defRPr/>
            </a:pPr>
            <a:endParaRPr lang="en-US" altLang="en-US" sz="2000" dirty="0"/>
          </a:p>
          <a:p>
            <a:pPr marL="0" indent="0" eaLnBrk="1" fontAlgn="auto" hangingPunct="1">
              <a:lnSpc>
                <a:spcPct val="200000"/>
              </a:lnSpc>
              <a:spcAft>
                <a:spcPts val="0"/>
              </a:spcAft>
              <a:buNone/>
              <a:defRPr/>
            </a:pPr>
            <a:endParaRPr lang="en-US" altLang="en-US" sz="2000" dirty="0"/>
          </a:p>
          <a:p>
            <a:pPr marL="0" indent="0" eaLnBrk="1" fontAlgn="auto" hangingPunct="1">
              <a:spcAft>
                <a:spcPts val="0"/>
              </a:spcAft>
              <a:buNone/>
              <a:defRPr/>
            </a:pPr>
            <a:endParaRPr lang="en-US" sz="1800" dirty="0"/>
          </a:p>
          <a:p>
            <a:pPr marL="342900" indent="-342900" eaLnBrk="1" fontAlgn="auto" hangingPunct="1">
              <a:spcAft>
                <a:spcPts val="0"/>
              </a:spcAft>
              <a:buFont typeface="+mj-lt"/>
              <a:buAutoNum type="arabicPeriod"/>
              <a:defRPr/>
            </a:pPr>
            <a:endParaRPr lang="en-US" sz="1800" dirty="0"/>
          </a:p>
          <a:p>
            <a:pPr marL="0" indent="0" eaLnBrk="1" fontAlgn="auto" hangingPunct="1">
              <a:spcAft>
                <a:spcPts val="0"/>
              </a:spcAft>
              <a:buNone/>
              <a:defRPr/>
            </a:pPr>
            <a:endParaRPr lang="en-US" sz="1800" dirty="0"/>
          </a:p>
          <a:p>
            <a:pPr marL="0" indent="0" eaLnBrk="1" fontAlgn="auto" hangingPunct="1">
              <a:spcAft>
                <a:spcPts val="0"/>
              </a:spcAft>
              <a:buNone/>
              <a:defRPr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3132755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9960746" y="6404502"/>
            <a:ext cx="533400" cy="365125"/>
          </a:xfrm>
        </p:spPr>
        <p:txBody>
          <a:bodyPr/>
          <a:lstStyle/>
          <a:p>
            <a:pPr>
              <a:defRPr/>
            </a:pPr>
            <a:fld id="{B9294E70-E917-49DC-8450-9D758323D070}" type="slidenum">
              <a:rPr lang="en-US" sz="1200" kern="0">
                <a:solidFill>
                  <a:schemeClr val="tx1"/>
                </a:solidFill>
              </a:rPr>
              <a:pPr>
                <a:defRPr/>
              </a:pPr>
              <a:t>3</a:t>
            </a:fld>
            <a:endParaRPr lang="en-US" sz="1200" kern="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4">
                <a:extLst>
                  <a:ext uri="{FF2B5EF4-FFF2-40B4-BE49-F238E27FC236}">
                    <a16:creationId xmlns:a16="http://schemas.microsoft.com/office/drawing/2014/main" id="{B790C02A-5B70-412D-87F0-3ABC36EFB32F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261552" y="775126"/>
                <a:ext cx="11341443" cy="573118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  <a:normAutofit/>
              </a:bodyPr>
              <a:lstStyle>
                <a:lvl1pPr marL="257175" indent="-257175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Palatino Linotype" pitchFamily="18" charset="0"/>
                    <a:ea typeface="+mn-ea"/>
                    <a:cs typeface="+mn-cs"/>
                  </a:defRPr>
                </a:lvl1pPr>
                <a:lvl2pPr marL="557213" indent="-214313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100" kern="1200">
                    <a:solidFill>
                      <a:schemeClr val="tx1"/>
                    </a:solidFill>
                    <a:latin typeface="Palatino Linotype" pitchFamily="18" charset="0"/>
                    <a:ea typeface="+mn-ea"/>
                    <a:cs typeface="+mn-cs"/>
                  </a:defRPr>
                </a:lvl2pPr>
                <a:lvl3pPr marL="857250" indent="-1714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Palatino Linotype" pitchFamily="18" charset="0"/>
                    <a:ea typeface="+mn-ea"/>
                    <a:cs typeface="+mn-cs"/>
                  </a:defRPr>
                </a:lvl3pPr>
                <a:lvl4pPr marL="1200150" indent="-1714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1500" kern="1200">
                    <a:solidFill>
                      <a:schemeClr val="tx1"/>
                    </a:solidFill>
                    <a:latin typeface="Palatino Linotype" pitchFamily="18" charset="0"/>
                    <a:ea typeface="+mn-ea"/>
                    <a:cs typeface="+mn-cs"/>
                  </a:defRPr>
                </a:lvl4pPr>
                <a:lvl5pPr marL="1543050" indent="-1714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1500" kern="1200">
                    <a:solidFill>
                      <a:schemeClr val="tx1"/>
                    </a:solidFill>
                    <a:latin typeface="Palatino Linotype" pitchFamily="18" charset="0"/>
                    <a:ea typeface="+mn-ea"/>
                    <a:cs typeface="+mn-cs"/>
                  </a:defRPr>
                </a:lvl5pPr>
                <a:lvl6pPr marL="1885950" indent="-171450" algn="l" defTabSz="6858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28850" indent="-171450" algn="l" defTabSz="6858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571750" indent="-171450" algn="l" defTabSz="6858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14650" indent="-171450" algn="l" defTabSz="6858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eaLnBrk="1" fontAlgn="auto" hangingPunct="1">
                  <a:spcAft>
                    <a:spcPts val="600"/>
                  </a:spcAft>
                  <a:buNone/>
                  <a:defRPr/>
                </a:pPr>
                <a:r>
                  <a:rPr lang="en-US" sz="2800" b="1" u="sng" dirty="0">
                    <a:latin typeface="Arial" panose="020B0604020202020204" pitchFamily="34" charset="0"/>
                    <a:cs typeface="Arial" panose="020B0604020202020204" pitchFamily="34" charset="0"/>
                  </a:rPr>
                  <a:t>Available models:</a:t>
                </a:r>
              </a:p>
              <a:p>
                <a:pPr marL="0" indent="0" eaLnBrk="1" fontAlgn="auto" hangingPunct="1">
                  <a:spcAft>
                    <a:spcPts val="600"/>
                  </a:spcAft>
                  <a:buNone/>
                  <a:defRPr/>
                </a:pPr>
                <a:r>
                  <a:rPr lang="en-US" sz="1800" b="1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Bridge Model – GPM Short Term Nowcasting and Forecasting System</a:t>
                </a:r>
              </a:p>
              <a:p>
                <a:pPr marL="0" indent="0" eaLnBrk="1" fontAlgn="auto" hangingPunct="1">
                  <a:spcAft>
                    <a:spcPts val="0"/>
                  </a:spcAft>
                  <a:buNone/>
                  <a:defRPr/>
                </a:pPr>
                <a:endParaRPr lang="en-US" sz="18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 algn="ctr" eaLnBrk="1" fontAlgn="auto" hangingPunct="1">
                  <a:spcAft>
                    <a:spcPts val="0"/>
                  </a:spcAft>
                  <a:buNone/>
                  <a:defRPr/>
                </a:pPr>
                <a:r>
                  <a:rPr lang="en-US" sz="18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Quarterly equation :	</a:t>
                </a:r>
                <a14:m>
                  <m:oMath xmlns:m="http://schemas.openxmlformats.org/officeDocument/2006/math">
                    <m:r>
                      <a:rPr lang="en-US" sz="1800" b="1" i="1" smtClean="0">
                        <a:latin typeface="Cambria Math" panose="02040503050406030204" pitchFamily="18" charset="0"/>
                      </a:rPr>
                      <m:t>𝑮𝑫</m:t>
                    </m:r>
                    <m:sSub>
                      <m:sSubPr>
                        <m:ctrlPr>
                          <a:rPr lang="en-US" sz="18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1" i="1" smtClean="0"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en-US" sz="1800" b="1" i="1" smtClean="0">
                            <a:latin typeface="Cambria Math" panose="02040503050406030204" pitchFamily="18" charset="0"/>
                          </a:rPr>
                          <m:t>𝒕</m:t>
                        </m:r>
                      </m:sub>
                    </m:sSub>
                    <m:r>
                      <a:rPr lang="en-US" sz="18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800" b="1" i="1" smtClean="0">
                        <a:latin typeface="Cambria Math" panose="02040503050406030204" pitchFamily="18" charset="0"/>
                      </a:rPr>
                      <m:t>𝒄</m:t>
                    </m:r>
                    <m:r>
                      <a:rPr lang="en-US" sz="1800" b="1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800" b="1" i="1" smtClean="0">
                        <a:latin typeface="Cambria Math" panose="02040503050406030204" pitchFamily="18" charset="0"/>
                      </a:rPr>
                      <m:t>𝝀</m:t>
                    </m:r>
                    <m:d>
                      <m:dPr>
                        <m:ctrlPr>
                          <a:rPr lang="en-US" sz="18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1" i="1" smtClean="0">
                            <a:latin typeface="Cambria Math" panose="02040503050406030204" pitchFamily="18" charset="0"/>
                          </a:rPr>
                          <m:t>𝑳</m:t>
                        </m:r>
                      </m:e>
                    </m:d>
                    <m:r>
                      <a:rPr lang="en-US" sz="1800" b="1" i="1" smtClean="0">
                        <a:latin typeface="Cambria Math" panose="02040503050406030204" pitchFamily="18" charset="0"/>
                      </a:rPr>
                      <m:t>𝑮𝑫</m:t>
                    </m:r>
                    <m:sSub>
                      <m:sSubPr>
                        <m:ctrlPr>
                          <a:rPr lang="en-US" sz="18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1" i="1" smtClean="0"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en-US" sz="1800" b="1" i="1" smtClean="0">
                            <a:latin typeface="Cambria Math" panose="02040503050406030204" pitchFamily="18" charset="0"/>
                          </a:rPr>
                          <m:t>𝒕</m:t>
                        </m:r>
                        <m:r>
                          <a:rPr lang="en-US" sz="1800" b="1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8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sz="1800" b="1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800" b="1" i="1" smtClean="0">
                        <a:latin typeface="Cambria Math" panose="02040503050406030204" pitchFamily="18" charset="0"/>
                      </a:rPr>
                      <m:t>𝜷</m:t>
                    </m:r>
                    <m:d>
                      <m:dPr>
                        <m:ctrlPr>
                          <a:rPr lang="en-US" sz="18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1" i="1" smtClean="0">
                            <a:latin typeface="Cambria Math" panose="02040503050406030204" pitchFamily="18" charset="0"/>
                          </a:rPr>
                          <m:t>𝑳</m:t>
                        </m:r>
                      </m:e>
                    </m:d>
                    <m:sSubSup>
                      <m:sSubSupPr>
                        <m:ctrlPr>
                          <a:rPr lang="en-US" sz="1800" b="1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800" b="1" i="1" smtClean="0"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b>
                        <m:r>
                          <a:rPr lang="en-US" sz="1800" b="1" i="1" smtClean="0">
                            <a:latin typeface="Cambria Math" panose="02040503050406030204" pitchFamily="18" charset="0"/>
                          </a:rPr>
                          <m:t>𝒕</m:t>
                        </m:r>
                        <m:r>
                          <a:rPr lang="en-US" sz="1800" b="1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8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  <m:sup>
                        <m:r>
                          <a:rPr lang="en-US" sz="1800" b="1" i="1" smtClean="0">
                            <a:latin typeface="Cambria Math" panose="02040503050406030204" pitchFamily="18" charset="0"/>
                          </a:rPr>
                          <m:t>𝑸</m:t>
                        </m:r>
                      </m:sup>
                    </m:sSubSup>
                    <m:r>
                      <a:rPr lang="en-US" sz="1800" b="1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8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1" i="1" smtClean="0">
                            <a:latin typeface="Cambria Math" panose="02040503050406030204" pitchFamily="18" charset="0"/>
                          </a:rPr>
                          <m:t>𝝐</m:t>
                        </m:r>
                      </m:e>
                      <m:sub>
                        <m:r>
                          <a:rPr lang="en-US" sz="1800" b="1" i="1" smtClean="0">
                            <a:latin typeface="Cambria Math" panose="02040503050406030204" pitchFamily="18" charset="0"/>
                          </a:rPr>
                          <m:t>𝒕</m:t>
                        </m:r>
                      </m:sub>
                    </m:sSub>
                    <m:r>
                      <a:rPr lang="en-US" sz="1800" b="1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18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 algn="ctr" eaLnBrk="1" fontAlgn="auto" hangingPunct="1">
                  <a:spcAft>
                    <a:spcPts val="0"/>
                  </a:spcAft>
                  <a:buNone/>
                  <a:defRPr/>
                </a:pPr>
                <a:endParaRPr lang="en-US" sz="18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 algn="ctr" eaLnBrk="1" fontAlgn="auto" hangingPunct="1">
                  <a:spcAft>
                    <a:spcPts val="0"/>
                  </a:spcAft>
                  <a:buNone/>
                  <a:defRPr/>
                </a:pPr>
                <a:endParaRPr lang="en-US" sz="18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 algn="ctr" eaLnBrk="1" fontAlgn="auto" hangingPunct="1">
                  <a:spcAft>
                    <a:spcPts val="0"/>
                  </a:spcAft>
                  <a:buNone/>
                  <a:defRPr/>
                </a:pPr>
                <a:r>
                  <a:rPr lang="en-US" sz="18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Monthly Aggregation :	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800" b="1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800" b="1" i="1"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b>
                        <m:r>
                          <a:rPr lang="en-US" sz="1800" b="1" i="1" smtClean="0">
                            <a:latin typeface="Cambria Math" panose="02040503050406030204" pitchFamily="18" charset="0"/>
                          </a:rPr>
                          <m:t>𝒕</m:t>
                        </m:r>
                      </m:sub>
                      <m:sup>
                        <m:r>
                          <a:rPr lang="en-US" sz="1800" b="1" i="1">
                            <a:latin typeface="Cambria Math" panose="02040503050406030204" pitchFamily="18" charset="0"/>
                          </a:rPr>
                          <m:t>𝑸</m:t>
                        </m:r>
                      </m:sup>
                    </m:sSubSup>
                    <m:r>
                      <a:rPr lang="en-US" sz="1800" b="1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8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8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sz="1800" b="1" i="1" smtClean="0">
                            <a:latin typeface="Cambria Math" panose="02040503050406030204" pitchFamily="18" charset="0"/>
                          </a:rPr>
                          <m:t>𝟑</m:t>
                        </m:r>
                      </m:den>
                    </m:f>
                    <m:r>
                      <a:rPr lang="en-US" sz="1800" b="1" i="1" smtClean="0">
                        <a:latin typeface="Cambria Math" panose="02040503050406030204" pitchFamily="18" charset="0"/>
                      </a:rPr>
                      <m:t>(</m:t>
                    </m:r>
                    <m:sSubSup>
                      <m:sSubSupPr>
                        <m:ctrlPr>
                          <a:rPr lang="en-US" sz="1800" b="1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8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1800" b="1" i="1" smtClean="0">
                            <a:latin typeface="Cambria Math" panose="02040503050406030204" pitchFamily="18" charset="0"/>
                          </a:rPr>
                          <m:t>𝒕</m:t>
                        </m:r>
                      </m:sub>
                      <m:sup>
                        <m:r>
                          <a:rPr lang="en-US" sz="1800" b="1" i="1" smtClean="0">
                            <a:latin typeface="Cambria Math" panose="02040503050406030204" pitchFamily="18" charset="0"/>
                          </a:rPr>
                          <m:t>𝒎</m:t>
                        </m:r>
                      </m:sup>
                    </m:sSubSup>
                    <m:r>
                      <a:rPr lang="en-US" sz="1800" b="1" i="1" smtClean="0"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US" sz="1800" b="1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8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1800" b="1" i="1">
                            <a:latin typeface="Cambria Math" panose="02040503050406030204" pitchFamily="18" charset="0"/>
                          </a:rPr>
                          <m:t>𝒕</m:t>
                        </m:r>
                        <m:r>
                          <a:rPr lang="en-US" sz="1800" b="1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8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  <m:sup>
                        <m:r>
                          <a:rPr lang="en-US" sz="1800" b="1" i="1">
                            <a:latin typeface="Cambria Math" panose="02040503050406030204" pitchFamily="18" charset="0"/>
                          </a:rPr>
                          <m:t>𝒎</m:t>
                        </m:r>
                      </m:sup>
                    </m:sSubSup>
                    <m:r>
                      <a:rPr lang="en-US" sz="1800" b="1" i="1" smtClean="0"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US" sz="1800" b="1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8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1800" b="1" i="1">
                            <a:latin typeface="Cambria Math" panose="02040503050406030204" pitchFamily="18" charset="0"/>
                          </a:rPr>
                          <m:t>𝒕</m:t>
                        </m:r>
                        <m:r>
                          <a:rPr lang="en-US" sz="1800" b="1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8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  <m:sup>
                        <m:r>
                          <a:rPr lang="en-US" sz="1800" b="1" i="1">
                            <a:latin typeface="Cambria Math" panose="02040503050406030204" pitchFamily="18" charset="0"/>
                          </a:rPr>
                          <m:t>𝒎</m:t>
                        </m:r>
                      </m:sup>
                    </m:sSubSup>
                    <m:r>
                      <a:rPr lang="en-US" sz="1800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8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 algn="ctr" eaLnBrk="1" fontAlgn="auto" hangingPunct="1">
                  <a:spcAft>
                    <a:spcPts val="0"/>
                  </a:spcAft>
                  <a:buNone/>
                  <a:defRPr/>
                </a:pPr>
                <a:endParaRPr lang="en-US" sz="18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 algn="ctr" eaLnBrk="1" fontAlgn="auto" hangingPunct="1">
                  <a:spcAft>
                    <a:spcPts val="0"/>
                  </a:spcAft>
                  <a:buNone/>
                  <a:defRPr/>
                </a:pPr>
                <a:endParaRPr lang="en-US" sz="18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 algn="ctr" eaLnBrk="1" fontAlgn="auto" hangingPunct="1">
                  <a:spcAft>
                    <a:spcPts val="0"/>
                  </a:spcAft>
                  <a:buNone/>
                  <a:defRPr/>
                </a:pPr>
                <a:r>
                  <a:rPr lang="en-US" sz="18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Monthly projection :	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800" b="1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800" b="1" i="1"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b>
                        <m:r>
                          <a:rPr lang="en-US" sz="1800" b="1" i="1" smtClean="0">
                            <a:latin typeface="Cambria Math" panose="02040503050406030204" pitchFamily="18" charset="0"/>
                          </a:rPr>
                          <m:t>𝒕</m:t>
                        </m:r>
                      </m:sub>
                      <m:sup>
                        <m:r>
                          <a:rPr lang="en-US" sz="1800" b="1" i="1" smtClean="0">
                            <a:latin typeface="Cambria Math" panose="02040503050406030204" pitchFamily="18" charset="0"/>
                          </a:rPr>
                          <m:t>𝒎</m:t>
                        </m:r>
                      </m:sup>
                    </m:sSubSup>
                    <m:r>
                      <a:rPr lang="en-US" sz="18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800" b="1" i="1">
                        <a:latin typeface="Cambria Math" panose="02040503050406030204" pitchFamily="18" charset="0"/>
                      </a:rPr>
                      <m:t>𝒄</m:t>
                    </m:r>
                    <m:r>
                      <a:rPr lang="en-US" sz="1800" b="1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800" b="1" i="1">
                        <a:latin typeface="Cambria Math" panose="02040503050406030204" pitchFamily="18" charset="0"/>
                      </a:rPr>
                      <m:t>𝜷</m:t>
                    </m:r>
                    <m:d>
                      <m:dPr>
                        <m:ctrlPr>
                          <a:rPr lang="en-US" sz="18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1" i="1">
                            <a:latin typeface="Cambria Math" panose="02040503050406030204" pitchFamily="18" charset="0"/>
                          </a:rPr>
                          <m:t>𝑳</m:t>
                        </m:r>
                      </m:e>
                    </m:d>
                    <m:sSubSup>
                      <m:sSubSupPr>
                        <m:ctrlPr>
                          <a:rPr lang="en-US" sz="1800" b="1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800" b="1" i="1"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b>
                        <m:r>
                          <a:rPr lang="en-US" sz="1800" b="1" i="1">
                            <a:latin typeface="Cambria Math" panose="02040503050406030204" pitchFamily="18" charset="0"/>
                          </a:rPr>
                          <m:t>𝒕</m:t>
                        </m:r>
                        <m:r>
                          <a:rPr lang="en-US" sz="1800" b="1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800" b="1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  <m:sup>
                        <m:r>
                          <a:rPr lang="en-US" sz="1800" b="1" i="1" smtClean="0">
                            <a:latin typeface="Cambria Math" panose="02040503050406030204" pitchFamily="18" charset="0"/>
                          </a:rPr>
                          <m:t>𝒎</m:t>
                        </m:r>
                      </m:sup>
                    </m:sSubSup>
                  </m:oMath>
                </a14:m>
                <a:endParaRPr lang="en-US" sz="18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 algn="ctr" eaLnBrk="1" fontAlgn="auto" hangingPunct="1">
                  <a:spcAft>
                    <a:spcPts val="0"/>
                  </a:spcAft>
                  <a:buNone/>
                  <a:defRPr/>
                </a:pPr>
                <a:endParaRPr lang="en-US" sz="18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 eaLnBrk="1" fontAlgn="auto" hangingPunct="1">
                  <a:spcAft>
                    <a:spcPts val="0"/>
                  </a:spcAft>
                  <a:buNone/>
                  <a:defRPr/>
                </a:pPr>
                <a:endParaRPr lang="en-US" sz="18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eaLnBrk="1" fontAlgn="auto" hangingPunct="1">
                  <a:spcAft>
                    <a:spcPts val="0"/>
                  </a:spcAft>
                  <a:defRPr/>
                </a:pP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Multiple monthly indicators can be in quarterly equation.</a:t>
                </a:r>
              </a:p>
              <a:p>
                <a:pPr eaLnBrk="1" fontAlgn="auto" hangingPunct="1">
                  <a:spcAft>
                    <a:spcPts val="0"/>
                  </a:spcAft>
                  <a:defRPr/>
                </a:pP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Performed for each major GDP component</a:t>
                </a:r>
              </a:p>
              <a:p>
                <a:pPr eaLnBrk="1" fontAlgn="auto" hangingPunct="1">
                  <a:spcAft>
                    <a:spcPts val="0"/>
                  </a:spcAft>
                  <a:defRPr/>
                </a:pP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Preset equations (in this version)</a:t>
                </a:r>
              </a:p>
              <a:p>
                <a:pPr eaLnBrk="1" fontAlgn="auto" hangingPunct="1">
                  <a:spcAft>
                    <a:spcPts val="0"/>
                  </a:spcAft>
                  <a:defRPr/>
                </a:pPr>
                <a:endParaRPr lang="en-US" sz="2000" dirty="0"/>
              </a:p>
            </p:txBody>
          </p:sp>
        </mc:Choice>
        <mc:Fallback xmlns="">
          <p:sp>
            <p:nvSpPr>
              <p:cNvPr id="6" name="Content Placeholder 4">
                <a:extLst>
                  <a:ext uri="{FF2B5EF4-FFF2-40B4-BE49-F238E27FC236}">
                    <a16:creationId xmlns:a16="http://schemas.microsoft.com/office/drawing/2014/main" id="{B790C02A-5B70-412D-87F0-3ABC36EFB3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1552" y="775126"/>
                <a:ext cx="11341443" cy="5731181"/>
              </a:xfrm>
              <a:prstGeom prst="rect">
                <a:avLst/>
              </a:prstGeom>
              <a:blipFill>
                <a:blip r:embed="rId3"/>
                <a:stretch>
                  <a:fillRect l="-1129" t="-1064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600536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9960746" y="6404502"/>
            <a:ext cx="533400" cy="365125"/>
          </a:xfrm>
        </p:spPr>
        <p:txBody>
          <a:bodyPr/>
          <a:lstStyle/>
          <a:p>
            <a:pPr>
              <a:defRPr/>
            </a:pPr>
            <a:fld id="{B9294E70-E917-49DC-8450-9D758323D070}" type="slidenum">
              <a:rPr lang="en-US" sz="1200" kern="0">
                <a:solidFill>
                  <a:schemeClr val="tx1"/>
                </a:solidFill>
              </a:rPr>
              <a:pPr>
                <a:defRPr/>
              </a:pPr>
              <a:t>4</a:t>
            </a:fld>
            <a:endParaRPr lang="en-US" sz="1200" kern="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4">
                <a:extLst>
                  <a:ext uri="{FF2B5EF4-FFF2-40B4-BE49-F238E27FC236}">
                    <a16:creationId xmlns:a16="http://schemas.microsoft.com/office/drawing/2014/main" id="{B790C02A-5B70-412D-87F0-3ABC36EFB32F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261552" y="775126"/>
                <a:ext cx="11341443" cy="54029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  <a:normAutofit lnSpcReduction="10000"/>
              </a:bodyPr>
              <a:lstStyle>
                <a:lvl1pPr marL="257175" indent="-257175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Palatino Linotype" pitchFamily="18" charset="0"/>
                    <a:ea typeface="+mn-ea"/>
                    <a:cs typeface="+mn-cs"/>
                  </a:defRPr>
                </a:lvl1pPr>
                <a:lvl2pPr marL="557213" indent="-214313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100" kern="1200">
                    <a:solidFill>
                      <a:schemeClr val="tx1"/>
                    </a:solidFill>
                    <a:latin typeface="Palatino Linotype" pitchFamily="18" charset="0"/>
                    <a:ea typeface="+mn-ea"/>
                    <a:cs typeface="+mn-cs"/>
                  </a:defRPr>
                </a:lvl2pPr>
                <a:lvl3pPr marL="857250" indent="-1714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Palatino Linotype" pitchFamily="18" charset="0"/>
                    <a:ea typeface="+mn-ea"/>
                    <a:cs typeface="+mn-cs"/>
                  </a:defRPr>
                </a:lvl3pPr>
                <a:lvl4pPr marL="1200150" indent="-1714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1500" kern="1200">
                    <a:solidFill>
                      <a:schemeClr val="tx1"/>
                    </a:solidFill>
                    <a:latin typeface="Palatino Linotype" pitchFamily="18" charset="0"/>
                    <a:ea typeface="+mn-ea"/>
                    <a:cs typeface="+mn-cs"/>
                  </a:defRPr>
                </a:lvl4pPr>
                <a:lvl5pPr marL="1543050" indent="-1714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1500" kern="1200">
                    <a:solidFill>
                      <a:schemeClr val="tx1"/>
                    </a:solidFill>
                    <a:latin typeface="Palatino Linotype" pitchFamily="18" charset="0"/>
                    <a:ea typeface="+mn-ea"/>
                    <a:cs typeface="+mn-cs"/>
                  </a:defRPr>
                </a:lvl5pPr>
                <a:lvl6pPr marL="1885950" indent="-171450" algn="l" defTabSz="6858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28850" indent="-171450" algn="l" defTabSz="6858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571750" indent="-171450" algn="l" defTabSz="6858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14650" indent="-171450" algn="l" defTabSz="6858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eaLnBrk="1" fontAlgn="auto" hangingPunct="1">
                  <a:spcAft>
                    <a:spcPts val="600"/>
                  </a:spcAft>
                  <a:buNone/>
                  <a:defRPr/>
                </a:pPr>
                <a:r>
                  <a:rPr lang="en-US" sz="2800" b="1" u="sng" dirty="0">
                    <a:latin typeface="Arial" panose="020B0604020202020204" pitchFamily="34" charset="0"/>
                    <a:cs typeface="Arial" panose="020B0604020202020204" pitchFamily="34" charset="0"/>
                  </a:rPr>
                  <a:t>Available models:</a:t>
                </a:r>
              </a:p>
              <a:p>
                <a:pPr marL="0" indent="0" eaLnBrk="1" fontAlgn="auto" hangingPunct="1">
                  <a:spcAft>
                    <a:spcPts val="600"/>
                  </a:spcAft>
                  <a:buNone/>
                  <a:defRPr/>
                </a:pPr>
                <a:r>
                  <a:rPr lang="en-US" sz="1800" b="1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MIDAS Model</a:t>
                </a:r>
              </a:p>
              <a:p>
                <a:pPr marL="0" indent="0" eaLnBrk="1" fontAlgn="auto" hangingPunct="1">
                  <a:spcAft>
                    <a:spcPts val="0"/>
                  </a:spcAft>
                  <a:buNone/>
                  <a:defRPr/>
                </a:pPr>
                <a:endParaRPr lang="en-US" sz="18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 eaLnBrk="1" fontAlgn="auto" hangingPunct="1">
                  <a:spcAft>
                    <a:spcPts val="0"/>
                  </a:spcAft>
                  <a:buNone/>
                  <a:defRPr/>
                </a:pPr>
                <a:endParaRPr lang="en-US" sz="18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 eaLnBrk="1" fontAlgn="auto" hangingPunct="1">
                  <a:spcAft>
                    <a:spcPts val="0"/>
                  </a:spcAft>
                  <a:buNone/>
                  <a:defRPr/>
                </a:pPr>
                <a:endParaRPr lang="en-US" sz="18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 algn="ctr" eaLnBrk="1" fontAlgn="auto" hangingPunct="1">
                  <a:spcAft>
                    <a:spcPts val="0"/>
                  </a:spcAft>
                  <a:buNone/>
                  <a:defRPr/>
                </a:pPr>
                <a:r>
                  <a:rPr lang="en-US" sz="18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Quarterly equation :	</a:t>
                </a:r>
                <a14:m>
                  <m:oMath xmlns:m="http://schemas.openxmlformats.org/officeDocument/2006/math">
                    <m:r>
                      <a:rPr lang="en-US" sz="1800" b="1" i="1" smtClean="0">
                        <a:latin typeface="Cambria Math" panose="02040503050406030204" pitchFamily="18" charset="0"/>
                      </a:rPr>
                      <m:t>𝑮𝑫</m:t>
                    </m:r>
                    <m:sSub>
                      <m:sSubPr>
                        <m:ctrlPr>
                          <a:rPr lang="en-US" sz="18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1" i="1" smtClean="0"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en-US" sz="1800" b="1" i="1" smtClean="0">
                            <a:latin typeface="Cambria Math" panose="02040503050406030204" pitchFamily="18" charset="0"/>
                          </a:rPr>
                          <m:t>𝒕</m:t>
                        </m:r>
                      </m:sub>
                    </m:sSub>
                    <m:r>
                      <a:rPr lang="en-US" sz="18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800" b="1" i="1" smtClean="0">
                        <a:latin typeface="Cambria Math" panose="02040503050406030204" pitchFamily="18" charset="0"/>
                      </a:rPr>
                      <m:t>𝒄</m:t>
                    </m:r>
                    <m:r>
                      <a:rPr lang="en-US" sz="1800" b="1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800" b="1" i="1" smtClean="0">
                        <a:latin typeface="Cambria Math" panose="02040503050406030204" pitchFamily="18" charset="0"/>
                      </a:rPr>
                      <m:t>𝝀</m:t>
                    </m:r>
                    <m:d>
                      <m:dPr>
                        <m:ctrlPr>
                          <a:rPr lang="en-US" sz="18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1" i="1" smtClean="0">
                            <a:latin typeface="Cambria Math" panose="02040503050406030204" pitchFamily="18" charset="0"/>
                          </a:rPr>
                          <m:t>𝑳</m:t>
                        </m:r>
                      </m:e>
                    </m:d>
                    <m:r>
                      <a:rPr lang="en-US" sz="1800" b="1" i="1" smtClean="0">
                        <a:latin typeface="Cambria Math" panose="02040503050406030204" pitchFamily="18" charset="0"/>
                      </a:rPr>
                      <m:t>𝑮𝑫</m:t>
                    </m:r>
                    <m:sSub>
                      <m:sSubPr>
                        <m:ctrlPr>
                          <a:rPr lang="en-US" sz="18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1" i="1" smtClean="0"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en-US" sz="1800" b="1" i="1" smtClean="0">
                            <a:latin typeface="Cambria Math" panose="02040503050406030204" pitchFamily="18" charset="0"/>
                          </a:rPr>
                          <m:t>𝒕</m:t>
                        </m:r>
                        <m:r>
                          <a:rPr lang="en-US" sz="1800" b="1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8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sz="1800" b="1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800" b="1" i="1" smtClean="0">
                        <a:latin typeface="Cambria Math" panose="02040503050406030204" pitchFamily="18" charset="0"/>
                      </a:rPr>
                      <m:t>𝜷</m:t>
                    </m:r>
                    <m:d>
                      <m:dPr>
                        <m:ctrlPr>
                          <a:rPr lang="en-US" sz="18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1" i="1" smtClean="0">
                            <a:latin typeface="Cambria Math" panose="02040503050406030204" pitchFamily="18" charset="0"/>
                          </a:rPr>
                          <m:t>𝑳</m:t>
                        </m:r>
                      </m:e>
                    </m:d>
                    <m:sSubSup>
                      <m:sSubSupPr>
                        <m:ctrlPr>
                          <a:rPr lang="en-US" sz="1800" b="1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800" b="1" i="1" smtClean="0"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b>
                        <m:r>
                          <a:rPr lang="en-US" sz="1800" b="1" i="1" smtClean="0">
                            <a:latin typeface="Cambria Math" panose="02040503050406030204" pitchFamily="18" charset="0"/>
                          </a:rPr>
                          <m:t>𝒕</m:t>
                        </m:r>
                        <m:r>
                          <a:rPr lang="en-US" sz="1800" b="1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8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  <m:sup>
                        <m:r>
                          <a:rPr lang="en-US" sz="1800" b="1" i="1" smtClean="0">
                            <a:latin typeface="Cambria Math" panose="02040503050406030204" pitchFamily="18" charset="0"/>
                          </a:rPr>
                          <m:t>𝒎</m:t>
                        </m:r>
                      </m:sup>
                    </m:sSubSup>
                    <m:r>
                      <a:rPr lang="en-US" sz="1800" b="1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8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1" i="1" smtClean="0">
                            <a:latin typeface="Cambria Math" panose="02040503050406030204" pitchFamily="18" charset="0"/>
                          </a:rPr>
                          <m:t>𝝐</m:t>
                        </m:r>
                      </m:e>
                      <m:sub>
                        <m:r>
                          <a:rPr lang="en-US" sz="1800" b="1" i="1" smtClean="0">
                            <a:latin typeface="Cambria Math" panose="02040503050406030204" pitchFamily="18" charset="0"/>
                          </a:rPr>
                          <m:t>𝒕</m:t>
                        </m:r>
                      </m:sub>
                    </m:sSub>
                    <m:r>
                      <a:rPr lang="en-US" sz="1800" b="1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18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 algn="ctr" eaLnBrk="1" fontAlgn="auto" hangingPunct="1">
                  <a:spcAft>
                    <a:spcPts val="0"/>
                  </a:spcAft>
                  <a:buNone/>
                  <a:defRPr/>
                </a:pPr>
                <a:endParaRPr lang="en-US" sz="18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 eaLnBrk="1" fontAlgn="auto" hangingPunct="1">
                  <a:spcAft>
                    <a:spcPts val="0"/>
                  </a:spcAft>
                  <a:buNone/>
                  <a:defRPr/>
                </a:pPr>
                <a:endParaRPr lang="en-US" sz="18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 eaLnBrk="1" fontAlgn="auto" hangingPunct="1">
                  <a:spcAft>
                    <a:spcPts val="0"/>
                  </a:spcAft>
                  <a:buNone/>
                  <a:defRPr/>
                </a:pPr>
                <a:endParaRPr lang="en-US" sz="18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 eaLnBrk="1" fontAlgn="auto" hangingPunct="1">
                  <a:spcAft>
                    <a:spcPts val="0"/>
                  </a:spcAft>
                  <a:buNone/>
                  <a:defRPr/>
                </a:pPr>
                <a:endParaRPr lang="en-US" sz="18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eaLnBrk="1" fontAlgn="auto" hangingPunct="1">
                  <a:lnSpc>
                    <a:spcPct val="150000"/>
                  </a:lnSpc>
                  <a:spcAft>
                    <a:spcPts val="0"/>
                  </a:spcAft>
                  <a:defRPr/>
                </a:pPr>
                <a:r>
                  <a:rPr lang="en-US" sz="18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Skip the monthly projections, directly regress quarterly variable on monthly indicators</a:t>
                </a:r>
              </a:p>
              <a:p>
                <a:pPr eaLnBrk="1" fontAlgn="auto" hangingPunct="1">
                  <a:lnSpc>
                    <a:spcPct val="150000"/>
                  </a:lnSpc>
                  <a:spcAft>
                    <a:spcPts val="0"/>
                  </a:spcAft>
                  <a:defRPr/>
                </a:pPr>
                <a:r>
                  <a:rPr lang="en-US" sz="18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Perform for each major quarterly GDP component.</a:t>
                </a:r>
              </a:p>
              <a:p>
                <a:pPr eaLnBrk="1" fontAlgn="auto" hangingPunct="1">
                  <a:lnSpc>
                    <a:spcPct val="150000"/>
                  </a:lnSpc>
                  <a:spcAft>
                    <a:spcPts val="0"/>
                  </a:spcAft>
                  <a:defRPr/>
                </a:pPr>
                <a:r>
                  <a:rPr lang="en-US" sz="18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Optimize lag structure to achieve best OOS RMSE for each month of the quarter.</a:t>
                </a:r>
              </a:p>
              <a:p>
                <a:pPr eaLnBrk="1" fontAlgn="auto" hangingPunct="1">
                  <a:lnSpc>
                    <a:spcPct val="150000"/>
                  </a:lnSpc>
                  <a:spcAft>
                    <a:spcPts val="0"/>
                  </a:spcAft>
                  <a:defRPr/>
                </a:pPr>
                <a:r>
                  <a:rPr lang="en-US" sz="18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Weight together models of individual indicators by RMSE to get optimal nowcast.</a:t>
                </a:r>
              </a:p>
              <a:p>
                <a:pPr eaLnBrk="1" fontAlgn="auto" hangingPunct="1">
                  <a:spcAft>
                    <a:spcPts val="0"/>
                  </a:spcAft>
                  <a:defRPr/>
                </a:pPr>
                <a:endParaRPr lang="en-US" sz="18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 eaLnBrk="1" fontAlgn="auto" hangingPunct="1">
                  <a:spcAft>
                    <a:spcPts val="0"/>
                  </a:spcAft>
                  <a:buNone/>
                  <a:defRPr/>
                </a:pPr>
                <a:endParaRPr lang="en-US" sz="1500" dirty="0"/>
              </a:p>
            </p:txBody>
          </p:sp>
        </mc:Choice>
        <mc:Fallback xmlns="">
          <p:sp>
            <p:nvSpPr>
              <p:cNvPr id="6" name="Content Placeholder 4">
                <a:extLst>
                  <a:ext uri="{FF2B5EF4-FFF2-40B4-BE49-F238E27FC236}">
                    <a16:creationId xmlns:a16="http://schemas.microsoft.com/office/drawing/2014/main" id="{B790C02A-5B70-412D-87F0-3ABC36EFB3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1552" y="775126"/>
                <a:ext cx="11341443" cy="5402935"/>
              </a:xfrm>
              <a:prstGeom prst="rect">
                <a:avLst/>
              </a:prstGeom>
              <a:blipFill>
                <a:blip r:embed="rId3"/>
                <a:stretch>
                  <a:fillRect l="-1129" t="-1919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701757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9960746" y="6404502"/>
            <a:ext cx="533400" cy="365125"/>
          </a:xfrm>
        </p:spPr>
        <p:txBody>
          <a:bodyPr/>
          <a:lstStyle/>
          <a:p>
            <a:pPr>
              <a:defRPr/>
            </a:pPr>
            <a:fld id="{B9294E70-E917-49DC-8450-9D758323D070}" type="slidenum">
              <a:rPr lang="en-US" sz="1200" kern="0">
                <a:solidFill>
                  <a:schemeClr val="tx1"/>
                </a:solidFill>
              </a:rPr>
              <a:pPr>
                <a:defRPr/>
              </a:pPr>
              <a:t>5</a:t>
            </a:fld>
            <a:endParaRPr lang="en-US" sz="1200" kern="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4">
                <a:extLst>
                  <a:ext uri="{FF2B5EF4-FFF2-40B4-BE49-F238E27FC236}">
                    <a16:creationId xmlns:a16="http://schemas.microsoft.com/office/drawing/2014/main" id="{B790C02A-5B70-412D-87F0-3ABC36EFB32F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261552" y="775126"/>
                <a:ext cx="11341443" cy="54029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  <a:normAutofit/>
              </a:bodyPr>
              <a:lstStyle>
                <a:lvl1pPr marL="257175" indent="-257175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Palatino Linotype" pitchFamily="18" charset="0"/>
                    <a:ea typeface="+mn-ea"/>
                    <a:cs typeface="+mn-cs"/>
                  </a:defRPr>
                </a:lvl1pPr>
                <a:lvl2pPr marL="557213" indent="-214313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100" kern="1200">
                    <a:solidFill>
                      <a:schemeClr val="tx1"/>
                    </a:solidFill>
                    <a:latin typeface="Palatino Linotype" pitchFamily="18" charset="0"/>
                    <a:ea typeface="+mn-ea"/>
                    <a:cs typeface="+mn-cs"/>
                  </a:defRPr>
                </a:lvl2pPr>
                <a:lvl3pPr marL="857250" indent="-1714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Palatino Linotype" pitchFamily="18" charset="0"/>
                    <a:ea typeface="+mn-ea"/>
                    <a:cs typeface="+mn-cs"/>
                  </a:defRPr>
                </a:lvl3pPr>
                <a:lvl4pPr marL="1200150" indent="-1714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1500" kern="1200">
                    <a:solidFill>
                      <a:schemeClr val="tx1"/>
                    </a:solidFill>
                    <a:latin typeface="Palatino Linotype" pitchFamily="18" charset="0"/>
                    <a:ea typeface="+mn-ea"/>
                    <a:cs typeface="+mn-cs"/>
                  </a:defRPr>
                </a:lvl4pPr>
                <a:lvl5pPr marL="1543050" indent="-1714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1500" kern="1200">
                    <a:solidFill>
                      <a:schemeClr val="tx1"/>
                    </a:solidFill>
                    <a:latin typeface="Palatino Linotype" pitchFamily="18" charset="0"/>
                    <a:ea typeface="+mn-ea"/>
                    <a:cs typeface="+mn-cs"/>
                  </a:defRPr>
                </a:lvl5pPr>
                <a:lvl6pPr marL="1885950" indent="-171450" algn="l" defTabSz="6858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28850" indent="-171450" algn="l" defTabSz="6858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571750" indent="-171450" algn="l" defTabSz="6858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14650" indent="-171450" algn="l" defTabSz="6858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eaLnBrk="1" fontAlgn="auto" hangingPunct="1">
                  <a:spcAft>
                    <a:spcPts val="600"/>
                  </a:spcAft>
                  <a:buNone/>
                  <a:defRPr/>
                </a:pPr>
                <a:r>
                  <a:rPr lang="en-US" sz="2800" b="1" u="sng" dirty="0">
                    <a:latin typeface="Arial" panose="020B0604020202020204" pitchFamily="34" charset="0"/>
                    <a:cs typeface="Arial" panose="020B0604020202020204" pitchFamily="34" charset="0"/>
                  </a:rPr>
                  <a:t>Available models:</a:t>
                </a:r>
              </a:p>
              <a:p>
                <a:pPr marL="0" indent="0" eaLnBrk="1" fontAlgn="auto" hangingPunct="1">
                  <a:spcAft>
                    <a:spcPts val="600"/>
                  </a:spcAft>
                  <a:buNone/>
                  <a:defRPr/>
                </a:pPr>
                <a:r>
                  <a:rPr lang="en-US" sz="1800" b="1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Factor model</a:t>
                </a:r>
              </a:p>
              <a:p>
                <a:pPr marL="0" indent="0" eaLnBrk="1" fontAlgn="auto" hangingPunct="1">
                  <a:spcAft>
                    <a:spcPts val="0"/>
                  </a:spcAft>
                  <a:buNone/>
                  <a:defRPr/>
                </a:pPr>
                <a:endParaRPr lang="en-US" sz="18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 algn="ctr" eaLnBrk="1" fontAlgn="auto" hangingPunct="1">
                  <a:spcAft>
                    <a:spcPts val="0"/>
                  </a:spcAft>
                  <a:buNone/>
                  <a:defRPr/>
                </a:pPr>
                <a:r>
                  <a:rPr lang="en-US" sz="18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Transition equation :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1" i="1" smtClean="0">
                            <a:latin typeface="Cambria Math" panose="02040503050406030204" pitchFamily="18" charset="0"/>
                          </a:rPr>
                          <m:t>𝑭</m:t>
                        </m:r>
                      </m:e>
                      <m:sub>
                        <m:r>
                          <a:rPr lang="en-US" sz="1800" b="1" i="1" smtClean="0">
                            <a:latin typeface="Cambria Math" panose="02040503050406030204" pitchFamily="18" charset="0"/>
                          </a:rPr>
                          <m:t>𝒕</m:t>
                        </m:r>
                      </m:sub>
                    </m:sSub>
                    <m:r>
                      <a:rPr lang="en-US" sz="18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800" b="1" i="1" smtClean="0">
                        <a:latin typeface="Cambria Math" panose="02040503050406030204" pitchFamily="18" charset="0"/>
                      </a:rPr>
                      <m:t>𝒄</m:t>
                    </m:r>
                    <m:r>
                      <a:rPr lang="en-US" sz="1800" b="1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800" b="1" i="1" smtClean="0">
                        <a:latin typeface="Cambria Math" panose="02040503050406030204" pitchFamily="18" charset="0"/>
                      </a:rPr>
                      <m:t>𝝀</m:t>
                    </m:r>
                    <m:d>
                      <m:dPr>
                        <m:ctrlPr>
                          <a:rPr lang="en-US" sz="18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1" i="1" smtClean="0">
                            <a:latin typeface="Cambria Math" panose="02040503050406030204" pitchFamily="18" charset="0"/>
                          </a:rPr>
                          <m:t>𝑳</m:t>
                        </m:r>
                      </m:e>
                    </m:d>
                    <m:sSub>
                      <m:sSubPr>
                        <m:ctrlPr>
                          <a:rPr lang="en-US" sz="18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1" i="1" smtClean="0">
                            <a:latin typeface="Cambria Math" panose="02040503050406030204" pitchFamily="18" charset="0"/>
                          </a:rPr>
                          <m:t>𝑭</m:t>
                        </m:r>
                      </m:e>
                      <m:sub>
                        <m:r>
                          <a:rPr lang="en-US" sz="1800" b="1" i="1" smtClean="0">
                            <a:latin typeface="Cambria Math" panose="02040503050406030204" pitchFamily="18" charset="0"/>
                          </a:rPr>
                          <m:t>𝒕</m:t>
                        </m:r>
                        <m:r>
                          <a:rPr lang="en-US" sz="1800" b="1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8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sz="1800" b="1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8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1" i="1" smtClean="0">
                            <a:latin typeface="Cambria Math" panose="02040503050406030204" pitchFamily="18" charset="0"/>
                          </a:rPr>
                          <m:t>𝝐</m:t>
                        </m:r>
                      </m:e>
                      <m:sub>
                        <m:r>
                          <a:rPr lang="en-US" sz="1800" b="1" i="1" smtClean="0">
                            <a:latin typeface="Cambria Math" panose="02040503050406030204" pitchFamily="18" charset="0"/>
                          </a:rPr>
                          <m:t>𝒕</m:t>
                        </m:r>
                      </m:sub>
                    </m:sSub>
                    <m:r>
                      <a:rPr lang="en-US" sz="1800" b="1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18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 algn="ctr" eaLnBrk="1" fontAlgn="auto" hangingPunct="1">
                  <a:spcAft>
                    <a:spcPts val="0"/>
                  </a:spcAft>
                  <a:buNone/>
                  <a:defRPr/>
                </a:pPr>
                <a:r>
                  <a:rPr lang="en-US" sz="18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Observation equation: </a:t>
                </a:r>
                <a14:m>
                  <m:oMath xmlns:m="http://schemas.openxmlformats.org/officeDocument/2006/math">
                    <m:m>
                      <m:mPr>
                        <m:mcs>
                          <m:mc>
                            <m:mcPr>
                              <m:count m:val="1"/>
                              <m:mcJc m:val="center"/>
                            </m:mcPr>
                          </m:mc>
                        </m:mcs>
                        <m:ctrlPr>
                          <a:rPr lang="en-US" sz="1800" b="1" i="1" smtClean="0">
                            <a:latin typeface="Cambria Math" panose="02040503050406030204" pitchFamily="18" charset="0"/>
                          </a:rPr>
                        </m:ctrlPr>
                      </m:mPr>
                      <m:mr>
                        <m:e>
                          <m:r>
                            <m:rPr>
                              <m:brk m:alnAt="7"/>
                            </m:rPr>
                            <a:rPr lang="en-US" sz="1800" b="1" i="1" smtClean="0">
                              <a:latin typeface="Cambria Math" panose="02040503050406030204" pitchFamily="18" charset="0"/>
                            </a:rPr>
                            <m:t>𝑮</m:t>
                          </m:r>
                          <m:r>
                            <a:rPr lang="en-US" sz="1800" b="1" i="1" smtClean="0">
                              <a:latin typeface="Cambria Math" panose="02040503050406030204" pitchFamily="18" charset="0"/>
                            </a:rPr>
                            <m:t>𝑫</m:t>
                          </m:r>
                          <m:sSup>
                            <m:sSupPr>
                              <m:ctrlPr>
                                <a:rPr lang="en-US" sz="1800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b="1" i="1" smtClean="0">
                                  <a:latin typeface="Cambria Math" panose="02040503050406030204" pitchFamily="18" charset="0"/>
                                </a:rPr>
                                <m:t>𝑷</m:t>
                              </m:r>
                            </m:e>
                            <m:sup>
                              <m:r>
                                <a:rPr lang="en-US" sz="1800" b="1" i="1" smtClean="0">
                                  <a:latin typeface="Cambria Math" panose="02040503050406030204" pitchFamily="18" charset="0"/>
                                </a:rPr>
                                <m:t>𝑸</m:t>
                              </m:r>
                            </m:sup>
                          </m:sSup>
                        </m:e>
                      </m:mr>
                      <m:mr>
                        <m:e>
                          <m:sSup>
                            <m:sSupPr>
                              <m:ctrlPr>
                                <a:rPr lang="en-US" sz="1800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b="1" i="1" smtClean="0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  <m:sup>
                              <m:r>
                                <a:rPr lang="en-US" sz="1800" b="1" i="1" smtClean="0">
                                  <a:latin typeface="Cambria Math" panose="02040503050406030204" pitchFamily="18" charset="0"/>
                                </a:rPr>
                                <m:t>𝑴</m:t>
                              </m:r>
                            </m:sup>
                          </m:sSup>
                        </m:e>
                      </m:mr>
                    </m:m>
                    <m:r>
                      <a:rPr lang="en-US" sz="1800" b="1" i="1" smtClean="0">
                        <a:latin typeface="Cambria Math" panose="02040503050406030204" pitchFamily="18" charset="0"/>
                      </a:rPr>
                      <m:t> =</m:t>
                    </m:r>
                    <m:r>
                      <a:rPr lang="en-US" sz="1800" b="1" i="1" smtClean="0">
                        <a:latin typeface="Cambria Math" panose="02040503050406030204" pitchFamily="18" charset="0"/>
                      </a:rPr>
                      <m:t>𝜷</m:t>
                    </m:r>
                    <m:sSub>
                      <m:sSubPr>
                        <m:ctrlPr>
                          <a:rPr lang="en-US" sz="18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1" i="1" smtClean="0">
                            <a:latin typeface="Cambria Math" panose="02040503050406030204" pitchFamily="18" charset="0"/>
                          </a:rPr>
                          <m:t>𝑭</m:t>
                        </m:r>
                      </m:e>
                      <m:sub>
                        <m:r>
                          <a:rPr lang="en-US" sz="1800" b="1" i="1" smtClean="0">
                            <a:latin typeface="Cambria Math" panose="02040503050406030204" pitchFamily="18" charset="0"/>
                          </a:rPr>
                          <m:t>𝒕</m:t>
                        </m:r>
                      </m:sub>
                    </m:sSub>
                    <m:r>
                      <a:rPr lang="en-US" sz="1800" b="1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8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1" i="1" smtClean="0">
                            <a:latin typeface="Cambria Math" panose="02040503050406030204" pitchFamily="18" charset="0"/>
                          </a:rPr>
                          <m:t>𝝐</m:t>
                        </m:r>
                      </m:e>
                      <m:sub>
                        <m:r>
                          <a:rPr lang="en-US" sz="1800" b="1" i="1" smtClean="0">
                            <a:latin typeface="Cambria Math" panose="02040503050406030204" pitchFamily="18" charset="0"/>
                          </a:rPr>
                          <m:t>𝒕</m:t>
                        </m:r>
                      </m:sub>
                    </m:sSub>
                  </m:oMath>
                </a14:m>
                <a:endParaRPr lang="en-US" sz="18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 algn="ctr" eaLnBrk="1" fontAlgn="auto" hangingPunct="1">
                  <a:spcAft>
                    <a:spcPts val="0"/>
                  </a:spcAft>
                  <a:buNone/>
                  <a:defRPr/>
                </a:pPr>
                <a:endParaRPr lang="en-US" sz="18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 algn="ctr" eaLnBrk="1" fontAlgn="auto" hangingPunct="1">
                  <a:spcAft>
                    <a:spcPts val="0"/>
                  </a:spcAft>
                  <a:buNone/>
                  <a:defRPr/>
                </a:pPr>
                <a:endParaRPr lang="en-US" sz="18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 algn="ctr" eaLnBrk="1" fontAlgn="auto" hangingPunct="1">
                  <a:spcAft>
                    <a:spcPts val="0"/>
                  </a:spcAft>
                  <a:buNone/>
                  <a:defRPr/>
                </a:pPr>
                <a:endParaRPr lang="en-US" sz="18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 eaLnBrk="1" fontAlgn="auto" hangingPunct="1">
                  <a:spcAft>
                    <a:spcPts val="0"/>
                  </a:spcAft>
                  <a:buNone/>
                  <a:defRPr/>
                </a:pPr>
                <a:endParaRPr lang="en-US" sz="18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 eaLnBrk="1" fontAlgn="auto" hangingPunct="1">
                  <a:spcAft>
                    <a:spcPts val="0"/>
                  </a:spcAft>
                  <a:buNone/>
                  <a:defRPr/>
                </a:pPr>
                <a:endParaRPr lang="en-US" sz="18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 eaLnBrk="1" fontAlgn="auto" hangingPunct="1">
                  <a:spcAft>
                    <a:spcPts val="0"/>
                  </a:spcAft>
                  <a:buNone/>
                  <a:defRPr/>
                </a:pPr>
                <a:endParaRPr lang="en-US" sz="18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eaLnBrk="1" fontAlgn="auto" hangingPunct="1">
                  <a:lnSpc>
                    <a:spcPct val="150000"/>
                  </a:lnSpc>
                  <a:spcAft>
                    <a:spcPts val="0"/>
                  </a:spcAft>
                  <a:defRPr/>
                </a:pPr>
                <a:r>
                  <a:rPr lang="en-US" sz="18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Usually used to nowcast GDP directly, rather than components.</a:t>
                </a:r>
              </a:p>
              <a:p>
                <a:pPr eaLnBrk="1" fontAlgn="auto" hangingPunct="1">
                  <a:lnSpc>
                    <a:spcPct val="150000"/>
                  </a:lnSpc>
                  <a:spcAft>
                    <a:spcPts val="0"/>
                  </a:spcAft>
                  <a:defRPr/>
                </a:pPr>
                <a:r>
                  <a:rPr lang="en-US" sz="18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Takes common components of monthly data to map on to GDP growth.</a:t>
                </a:r>
              </a:p>
              <a:p>
                <a:pPr eaLnBrk="1" fontAlgn="auto" hangingPunct="1">
                  <a:lnSpc>
                    <a:spcPct val="150000"/>
                  </a:lnSpc>
                  <a:spcAft>
                    <a:spcPts val="0"/>
                  </a:spcAft>
                  <a:defRPr/>
                </a:pPr>
                <a:endParaRPr lang="en-US" sz="18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 eaLnBrk="1" fontAlgn="auto" hangingPunct="1">
                  <a:spcAft>
                    <a:spcPts val="0"/>
                  </a:spcAft>
                  <a:buNone/>
                  <a:defRPr/>
                </a:pPr>
                <a:endParaRPr lang="en-US" sz="1500" dirty="0"/>
              </a:p>
            </p:txBody>
          </p:sp>
        </mc:Choice>
        <mc:Fallback xmlns="">
          <p:sp>
            <p:nvSpPr>
              <p:cNvPr id="6" name="Content Placeholder 4">
                <a:extLst>
                  <a:ext uri="{FF2B5EF4-FFF2-40B4-BE49-F238E27FC236}">
                    <a16:creationId xmlns:a16="http://schemas.microsoft.com/office/drawing/2014/main" id="{B790C02A-5B70-412D-87F0-3ABC36EFB3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1552" y="775126"/>
                <a:ext cx="11341443" cy="5402935"/>
              </a:xfrm>
              <a:prstGeom prst="rect">
                <a:avLst/>
              </a:prstGeom>
              <a:blipFill>
                <a:blip r:embed="rId3"/>
                <a:stretch>
                  <a:fillRect l="-1129" t="-1129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030360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9960746" y="6404502"/>
            <a:ext cx="533400" cy="365125"/>
          </a:xfrm>
        </p:spPr>
        <p:txBody>
          <a:bodyPr/>
          <a:lstStyle/>
          <a:p>
            <a:pPr>
              <a:defRPr/>
            </a:pPr>
            <a:fld id="{B9294E70-E917-49DC-8450-9D758323D070}" type="slidenum">
              <a:rPr lang="en-US" sz="1200" kern="0">
                <a:solidFill>
                  <a:schemeClr val="tx1"/>
                </a:solidFill>
              </a:rPr>
              <a:pPr>
                <a:defRPr/>
              </a:pPr>
              <a:t>6</a:t>
            </a:fld>
            <a:endParaRPr lang="en-US" sz="1200" kern="0" dirty="0">
              <a:solidFill>
                <a:schemeClr val="tx1"/>
              </a:solidFill>
            </a:endParaRP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B790C02A-5B70-412D-87F0-3ABC36EFB32F}"/>
              </a:ext>
            </a:extLst>
          </p:cNvPr>
          <p:cNvSpPr txBox="1">
            <a:spLocks/>
          </p:cNvSpPr>
          <p:nvPr/>
        </p:nvSpPr>
        <p:spPr bwMode="auto">
          <a:xfrm>
            <a:off x="261552" y="775126"/>
            <a:ext cx="11341443" cy="54029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 lnSpcReduction="10000"/>
          </a:bodyPr>
          <a:lstStyle>
            <a:lvl1pPr marL="257175" indent="-257175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1pPr>
            <a:lvl2pPr marL="557213" indent="-214313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1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2pPr>
            <a:lvl3pPr marL="85725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3pPr>
            <a:lvl4pPr marL="120015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15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4pPr>
            <a:lvl5pPr marL="154305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5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1" fontAlgn="auto" hangingPunct="1">
              <a:spcAft>
                <a:spcPts val="600"/>
              </a:spcAft>
              <a:buNone/>
              <a:defRPr/>
            </a:pPr>
            <a:r>
              <a:rPr lang="en-US" sz="2800" b="1" u="sng" dirty="0">
                <a:latin typeface="Arial" panose="020B0604020202020204" pitchFamily="34" charset="0"/>
                <a:cs typeface="Arial" panose="020B0604020202020204" pitchFamily="34" charset="0"/>
              </a:rPr>
              <a:t>Costs and benefits</a:t>
            </a:r>
          </a:p>
          <a:p>
            <a:pPr marL="0" indent="0" eaLnBrk="1" fontAlgn="auto" hangingPunct="1">
              <a:spcAft>
                <a:spcPts val="0"/>
              </a:spcAft>
              <a:buNone/>
              <a:defRPr/>
            </a:pPr>
            <a:endParaRPr lang="en-US" sz="1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When lots of data that is released is erratic or non-informative, factor model can be best to parse signal and noise.</a:t>
            </a:r>
          </a:p>
          <a:p>
            <a:pPr eaLnBrk="1" fontAlgn="auto" hangingPunct="1">
              <a:spcAft>
                <a:spcPts val="0"/>
              </a:spcAft>
              <a:defRPr/>
            </a:pP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fontAlgn="auto" hangingPunct="1">
              <a:spcAft>
                <a:spcPts val="0"/>
              </a:spcAft>
              <a:defRPr/>
            </a:pP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Downside to factor models: when monthly releases contain information about erratic components of GDP, factor model can ignore them (NY Fed).</a:t>
            </a:r>
          </a:p>
          <a:p>
            <a:pPr eaLnBrk="1" fontAlgn="auto" hangingPunct="1">
              <a:spcAft>
                <a:spcPts val="0"/>
              </a:spcAft>
              <a:defRPr/>
            </a:pP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fontAlgn="auto" hangingPunct="1">
              <a:spcAft>
                <a:spcPts val="0"/>
              </a:spcAft>
              <a:defRPr/>
            </a:pP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All models have some benefit: MIDAS is easy to re-estimate and update for changing coefficients. Bridge models are easiest to understand. Factor models can handle the most data.</a:t>
            </a:r>
          </a:p>
          <a:p>
            <a:pPr marL="0" indent="0" eaLnBrk="1" fontAlgn="auto" hangingPunct="1">
              <a:spcAft>
                <a:spcPts val="0"/>
              </a:spcAft>
              <a:buNone/>
              <a:defRPr/>
            </a:pP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2843044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9960746" y="6404502"/>
            <a:ext cx="533400" cy="365125"/>
          </a:xfrm>
        </p:spPr>
        <p:txBody>
          <a:bodyPr/>
          <a:lstStyle/>
          <a:p>
            <a:pPr>
              <a:defRPr/>
            </a:pPr>
            <a:fld id="{B9294E70-E917-49DC-8450-9D758323D070}" type="slidenum">
              <a:rPr lang="en-US" sz="1200" kern="0">
                <a:solidFill>
                  <a:schemeClr val="tx1"/>
                </a:solidFill>
              </a:rPr>
              <a:pPr>
                <a:defRPr/>
              </a:pPr>
              <a:t>7</a:t>
            </a:fld>
            <a:endParaRPr lang="en-US" sz="1200" kern="0" dirty="0">
              <a:solidFill>
                <a:schemeClr val="tx1"/>
              </a:solidFill>
            </a:endParaRP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B790C02A-5B70-412D-87F0-3ABC36EFB32F}"/>
              </a:ext>
            </a:extLst>
          </p:cNvPr>
          <p:cNvSpPr txBox="1">
            <a:spLocks/>
          </p:cNvSpPr>
          <p:nvPr/>
        </p:nvSpPr>
        <p:spPr bwMode="auto">
          <a:xfrm>
            <a:off x="261552" y="775126"/>
            <a:ext cx="11341443" cy="54029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>
            <a:lvl1pPr marL="257175" indent="-257175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1pPr>
            <a:lvl2pPr marL="557213" indent="-214313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1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2pPr>
            <a:lvl3pPr marL="85725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3pPr>
            <a:lvl4pPr marL="120015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15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4pPr>
            <a:lvl5pPr marL="154305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5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1" fontAlgn="auto" hangingPunct="1">
              <a:spcAft>
                <a:spcPts val="600"/>
              </a:spcAft>
              <a:buNone/>
              <a:defRPr/>
            </a:pPr>
            <a:r>
              <a:rPr lang="en-US" sz="2800" b="1" u="sng" dirty="0">
                <a:latin typeface="Arial" panose="020B0604020202020204" pitchFamily="34" charset="0"/>
                <a:cs typeface="Arial" panose="020B0604020202020204" pitchFamily="34" charset="0"/>
              </a:rPr>
              <a:t>What else should we be using?</a:t>
            </a:r>
          </a:p>
          <a:p>
            <a:pPr marL="0" indent="0" eaLnBrk="1" fontAlgn="auto" hangingPunct="1">
              <a:spcAft>
                <a:spcPts val="0"/>
              </a:spcAft>
              <a:buNone/>
              <a:defRPr/>
            </a:pP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New types of data?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Sample usually short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New models?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A role for machine learning?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Advanced techniques in existing models (i.e. time-varying variance in DFMs)</a:t>
            </a:r>
          </a:p>
          <a:p>
            <a:pPr marL="0" indent="0" eaLnBrk="1" fontAlgn="auto" hangingPunct="1">
              <a:spcAft>
                <a:spcPts val="0"/>
              </a:spcAft>
              <a:buNone/>
              <a:defRPr/>
            </a:pP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40108347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9960746" y="6404502"/>
            <a:ext cx="533400" cy="365125"/>
          </a:xfrm>
        </p:spPr>
        <p:txBody>
          <a:bodyPr/>
          <a:lstStyle/>
          <a:p>
            <a:pPr>
              <a:defRPr/>
            </a:pPr>
            <a:fld id="{B9294E70-E917-49DC-8450-9D758323D070}" type="slidenum">
              <a:rPr lang="en-US" sz="1200" kern="0">
                <a:solidFill>
                  <a:schemeClr val="tx1"/>
                </a:solidFill>
              </a:rPr>
              <a:pPr>
                <a:defRPr/>
              </a:pPr>
              <a:t>8</a:t>
            </a:fld>
            <a:endParaRPr lang="en-US" sz="1200" kern="0" dirty="0">
              <a:solidFill>
                <a:schemeClr val="tx1"/>
              </a:solidFill>
            </a:endParaRP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B790C02A-5B70-412D-87F0-3ABC36EFB32F}"/>
              </a:ext>
            </a:extLst>
          </p:cNvPr>
          <p:cNvSpPr txBox="1">
            <a:spLocks/>
          </p:cNvSpPr>
          <p:nvPr/>
        </p:nvSpPr>
        <p:spPr bwMode="auto">
          <a:xfrm>
            <a:off x="261552" y="775126"/>
            <a:ext cx="11341443" cy="54029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>
            <a:lvl1pPr marL="257175" indent="-257175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1pPr>
            <a:lvl2pPr marL="557213" indent="-214313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1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2pPr>
            <a:lvl3pPr marL="85725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3pPr>
            <a:lvl4pPr marL="120015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15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4pPr>
            <a:lvl5pPr marL="154305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500" kern="1200">
                <a:solidFill>
                  <a:schemeClr val="tx1"/>
                </a:solidFill>
                <a:latin typeface="Palatino Linotype" pitchFamily="18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1" fontAlgn="auto" hangingPunct="1">
              <a:spcAft>
                <a:spcPts val="600"/>
              </a:spcAft>
              <a:buNone/>
              <a:defRPr/>
            </a:pPr>
            <a:r>
              <a:rPr lang="en-US" sz="2800" b="1" u="sng" dirty="0">
                <a:latin typeface="Arial" panose="020B0604020202020204" pitchFamily="34" charset="0"/>
                <a:cs typeface="Arial" panose="020B0604020202020204" pitchFamily="34" charset="0"/>
              </a:rPr>
              <a:t>How do we incorporate into our products?</a:t>
            </a:r>
          </a:p>
          <a:p>
            <a:pPr marL="0" indent="0" eaLnBrk="1" fontAlgn="auto" hangingPunct="1">
              <a:spcAft>
                <a:spcPts val="0"/>
              </a:spcAft>
              <a:buNone/>
              <a:defRPr/>
            </a:pP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A role for pure nowcasts in the GPM package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JPM and BoE (internally) presented pure statistical models 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High-frequency “news” models that provide analysts with marginal data information on every release.</a:t>
            </a:r>
          </a:p>
          <a:p>
            <a:pPr eaLnBrk="1" fontAlgn="auto" hangingPunct="1">
              <a:spcAft>
                <a:spcPts val="0"/>
              </a:spcAft>
              <a:defRPr/>
            </a:pP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b="1">
                <a:latin typeface="Arial" panose="020B0604020202020204" pitchFamily="34" charset="0"/>
                <a:cs typeface="Arial" panose="020B0604020202020204" pitchFamily="34" charset="0"/>
              </a:rPr>
              <a:t>What else?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eaLnBrk="1" fontAlgn="auto" hangingPunct="1">
              <a:spcAft>
                <a:spcPts val="0"/>
              </a:spcAft>
              <a:buNone/>
              <a:defRPr/>
            </a:pP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2258824130"/>
      </p:ext>
    </p:extLst>
  </p:cSld>
  <p:clrMapOvr>
    <a:masterClrMapping/>
  </p:clrMapOvr>
</p:sld>
</file>

<file path=ppt/theme/theme1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98195</TotalTime>
  <Words>443</Words>
  <Application>Microsoft Office PowerPoint</Application>
  <PresentationFormat>Widescreen</PresentationFormat>
  <Paragraphs>103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8</vt:i4>
      </vt:variant>
    </vt:vector>
  </HeadingPairs>
  <TitlesOfParts>
    <vt:vector size="17" baseType="lpstr">
      <vt:lpstr>Arial</vt:lpstr>
      <vt:lpstr>Calibri</vt:lpstr>
      <vt:lpstr>Calibri Light</vt:lpstr>
      <vt:lpstr>Cambria Math</vt:lpstr>
      <vt:lpstr>Palatino Linotype</vt:lpstr>
      <vt:lpstr>Times New Roman</vt:lpstr>
      <vt:lpstr>3_Office Theme</vt:lpstr>
      <vt:lpstr>Custom Design</vt:lpstr>
      <vt:lpstr>2_Office Theme</vt:lpstr>
      <vt:lpstr>GPM Nowcasting Brainstorm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Gene Kindberg-Hanlon</dc:creator>
  <cp:lastModifiedBy>Kindberg-Hanlon, Gene</cp:lastModifiedBy>
  <cp:revision>1634</cp:revision>
  <cp:lastPrinted>2019-08-26T22:11:15Z</cp:lastPrinted>
  <dcterms:created xsi:type="dcterms:W3CDTF">2017-01-28T19:35:13Z</dcterms:created>
  <dcterms:modified xsi:type="dcterms:W3CDTF">2022-09-26T00:06:49Z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eDOCS AutoSave">
    <vt:lpwstr/>
  </property>
</Properties>
</file>